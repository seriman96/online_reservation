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showMasterSp="0" type="title">
  <p:cSld name="TITLE">
    <p:spTree>
      <p:nvGrpSpPr>
        <p:cNvPr id="22" name="Shape 22"/>
        <p:cNvGrpSpPr/>
        <p:nvPr/>
      </p:nvGrpSpPr>
      <p:grpSpPr>
        <a:xfrm>
          <a:off x="0" y="0"/>
          <a:ext cx="0" cy="0"/>
          <a:chOff x="0" y="0"/>
          <a:chExt cx="0" cy="0"/>
        </a:xfrm>
      </p:grpSpPr>
      <p:grpSp>
        <p:nvGrpSpPr>
          <p:cNvPr id="23" name="Google Shape;23;p2"/>
          <p:cNvGrpSpPr/>
          <p:nvPr/>
        </p:nvGrpSpPr>
        <p:grpSpPr>
          <a:xfrm>
            <a:off x="0" y="-8467"/>
            <a:ext cx="12192000" cy="6866467"/>
            <a:chOff x="0" y="-8467"/>
            <a:chExt cx="12192000" cy="6866467"/>
          </a:xfrm>
        </p:grpSpPr>
        <p:sp>
          <p:nvSpPr>
            <p:cNvPr id="24" name="Google Shape;24;p2"/>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25" name="Google Shape;25;p2"/>
            <p:cNvCxnSpPr/>
            <p:nvPr/>
          </p:nvCxnSpPr>
          <p:spPr>
            <a:xfrm>
              <a:off x="9371012" y="0"/>
              <a:ext cx="1219200" cy="6858000"/>
            </a:xfrm>
            <a:prstGeom prst="straightConnector1">
              <a:avLst/>
            </a:prstGeom>
            <a:noFill/>
            <a:ln cap="flat" cmpd="sng" w="9525">
              <a:solidFill>
                <a:schemeClr val="accent1">
                  <a:alpha val="70196"/>
                </a:schemeClr>
              </a:solidFill>
              <a:prstDash val="solid"/>
              <a:miter lim="8000"/>
              <a:headEnd len="sm" w="sm" type="none"/>
              <a:tailEnd len="sm" w="sm" type="none"/>
            </a:ln>
          </p:spPr>
        </p:cxnSp>
        <p:cxnSp>
          <p:nvCxnSpPr>
            <p:cNvPr id="26" name="Google Shape;26;p2"/>
            <p:cNvCxnSpPr/>
            <p:nvPr/>
          </p:nvCxnSpPr>
          <p:spPr>
            <a:xfrm flipH="1">
              <a:off x="7425267" y="3681413"/>
              <a:ext cx="4763558" cy="3176587"/>
            </a:xfrm>
            <a:prstGeom prst="straightConnector1">
              <a:avLst/>
            </a:prstGeom>
            <a:noFill/>
            <a:ln cap="flat" cmpd="sng" w="9525">
              <a:solidFill>
                <a:schemeClr val="accent1">
                  <a:alpha val="70196"/>
                </a:schemeClr>
              </a:solidFill>
              <a:prstDash val="solid"/>
              <a:miter lim="8000"/>
              <a:headEnd len="sm" w="sm" type="none"/>
              <a:tailEnd len="sm" w="sm" type="none"/>
            </a:ln>
          </p:spPr>
        </p:cxnSp>
        <p:sp>
          <p:nvSpPr>
            <p:cNvPr id="27" name="Google Shape;27;p2"/>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28" name="Google Shape;28;p2"/>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9" name="Google Shape;29;p2"/>
            <p:cNvSpPr/>
            <p:nvPr/>
          </p:nvSpPr>
          <p:spPr>
            <a:xfrm>
              <a:off x="8932333" y="3048000"/>
              <a:ext cx="3259667" cy="3810000"/>
            </a:xfrm>
            <a:prstGeom prst="triangle">
              <a:avLst>
                <a:gd fmla="val 100000" name="adj"/>
              </a:avLst>
            </a:prstGeom>
            <a:solidFill>
              <a:srgbClr val="0B5394">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0B5394">
                <a:alpha val="50196"/>
              </a:srgbClr>
            </a:solidFill>
            <a:ln>
              <a:noFill/>
            </a:ln>
          </p:spPr>
        </p:sp>
        <p:sp>
          <p:nvSpPr>
            <p:cNvPr id="31" name="Google Shape;31;p2"/>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32" name="Google Shape;32;p2"/>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0075A2">
                <a:alpha val="80000"/>
              </a:srgbClr>
            </a:solidFill>
            <a:ln>
              <a:noFill/>
            </a:ln>
          </p:spPr>
        </p:sp>
        <p:sp>
          <p:nvSpPr>
            <p:cNvPr id="33" name="Google Shape;33;p2"/>
            <p:cNvSpPr/>
            <p:nvPr/>
          </p:nvSpPr>
          <p:spPr>
            <a:xfrm>
              <a:off x="10371666" y="3589867"/>
              <a:ext cx="1817159" cy="3268133"/>
            </a:xfrm>
            <a:prstGeom prst="triangle">
              <a:avLst>
                <a:gd fmla="val 100000" name="adj"/>
              </a:avLst>
            </a:prstGeom>
            <a:solidFill>
              <a:srgbClr val="0B5394">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36" name="Google Shape;36;p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39" name="Shape 39"/>
        <p:cNvGrpSpPr/>
        <p:nvPr/>
      </p:nvGrpSpPr>
      <p:grpSpPr>
        <a:xfrm>
          <a:off x="0" y="0"/>
          <a:ext cx="0" cy="0"/>
          <a:chOff x="0" y="0"/>
          <a:chExt cx="0" cy="0"/>
        </a:xfrm>
      </p:grpSpPr>
      <p:sp>
        <p:nvSpPr>
          <p:cNvPr id="40" name="Google Shape;40;p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2" name="Google Shape;42;p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45" name="Shape 45"/>
        <p:cNvGrpSpPr/>
        <p:nvPr/>
      </p:nvGrpSpPr>
      <p:grpSpPr>
        <a:xfrm>
          <a:off x="0" y="0"/>
          <a:ext cx="0" cy="0"/>
          <a:chOff x="0" y="0"/>
          <a:chExt cx="0" cy="0"/>
        </a:xfrm>
      </p:grpSpPr>
      <p:sp>
        <p:nvSpPr>
          <p:cNvPr id="46" name="Google Shape;46;p4"/>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48" name="Google Shape;48;p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51" name="Shape 51"/>
        <p:cNvGrpSpPr/>
        <p:nvPr/>
      </p:nvGrpSpPr>
      <p:grpSpPr>
        <a:xfrm>
          <a:off x="0" y="0"/>
          <a:ext cx="0" cy="0"/>
          <a:chOff x="0" y="0"/>
          <a:chExt cx="0" cy="0"/>
        </a:xfrm>
      </p:grpSpPr>
      <p:sp>
        <p:nvSpPr>
          <p:cNvPr id="52" name="Google Shape;52;p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4" name="Google Shape;54;p5"/>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5" name="Google Shape;55;p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58" name="Shape 58"/>
        <p:cNvGrpSpPr/>
        <p:nvPr/>
      </p:nvGrpSpPr>
      <p:grpSpPr>
        <a:xfrm>
          <a:off x="0" y="0"/>
          <a:ext cx="0" cy="0"/>
          <a:chOff x="0" y="0"/>
          <a:chExt cx="0" cy="0"/>
        </a:xfrm>
      </p:grpSpPr>
      <p:sp>
        <p:nvSpPr>
          <p:cNvPr id="59" name="Google Shape;59;p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1" name="Google Shape;61;p6"/>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6"/>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3" name="Google Shape;63;p6"/>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67" name="Shape 67"/>
        <p:cNvGrpSpPr/>
        <p:nvPr/>
      </p:nvGrpSpPr>
      <p:grpSpPr>
        <a:xfrm>
          <a:off x="0" y="0"/>
          <a:ext cx="0" cy="0"/>
          <a:chOff x="0" y="0"/>
          <a:chExt cx="0" cy="0"/>
        </a:xfrm>
      </p:grpSpPr>
      <p:sp>
        <p:nvSpPr>
          <p:cNvPr id="68" name="Google Shape;68;p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72" name="Shape 72"/>
        <p:cNvGrpSpPr/>
        <p:nvPr/>
      </p:nvGrpSpPr>
      <p:grpSpPr>
        <a:xfrm>
          <a:off x="0" y="0"/>
          <a:ext cx="0" cy="0"/>
          <a:chOff x="0" y="0"/>
          <a:chExt cx="0" cy="0"/>
        </a:xfrm>
      </p:grpSpPr>
      <p:sp>
        <p:nvSpPr>
          <p:cNvPr id="73" name="Google Shape;73;p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76" name="Shape 76"/>
        <p:cNvGrpSpPr/>
        <p:nvPr/>
      </p:nvGrpSpPr>
      <p:grpSpPr>
        <a:xfrm>
          <a:off x="0" y="0"/>
          <a:ext cx="0" cy="0"/>
          <a:chOff x="0" y="0"/>
          <a:chExt cx="0" cy="0"/>
        </a:xfrm>
      </p:grpSpPr>
      <p:sp>
        <p:nvSpPr>
          <p:cNvPr id="77" name="Google Shape;77;p9"/>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9"/>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9" name="Google Shape;79;p9"/>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80" name="Google Shape;80;p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83" name="Shape 83"/>
        <p:cNvGrpSpPr/>
        <p:nvPr/>
      </p:nvGrpSpPr>
      <p:grpSpPr>
        <a:xfrm>
          <a:off x="0" y="0"/>
          <a:ext cx="0" cy="0"/>
          <a:chOff x="0" y="0"/>
          <a:chExt cx="0" cy="0"/>
        </a:xfrm>
      </p:grpSpPr>
      <p:sp>
        <p:nvSpPr>
          <p:cNvPr id="84" name="Google Shape;84;p10"/>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0"/>
          <p:cNvSpPr/>
          <p:nvPr>
            <p:ph idx="2" type="pic"/>
          </p:nvPr>
        </p:nvSpPr>
        <p:spPr>
          <a:xfrm>
            <a:off x="677334" y="609600"/>
            <a:ext cx="8596668" cy="3845718"/>
          </a:xfrm>
          <a:prstGeom prst="rect">
            <a:avLst/>
          </a:prstGeom>
          <a:noFill/>
          <a:ln>
            <a:noFill/>
          </a:ln>
        </p:spPr>
      </p:sp>
      <p:sp>
        <p:nvSpPr>
          <p:cNvPr id="86" name="Google Shape;86;p10"/>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7" name="Google Shape;87;p1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89" name="Google Shape;89;p1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légende">
  <p:cSld name="Titre et légende">
    <p:spTree>
      <p:nvGrpSpPr>
        <p:cNvPr id="90" name="Shape 90"/>
        <p:cNvGrpSpPr/>
        <p:nvPr/>
      </p:nvGrpSpPr>
      <p:grpSpPr>
        <a:xfrm>
          <a:off x="0" y="0"/>
          <a:ext cx="0" cy="0"/>
          <a:chOff x="0" y="0"/>
          <a:chExt cx="0" cy="0"/>
        </a:xfrm>
      </p:grpSpPr>
      <p:sp>
        <p:nvSpPr>
          <p:cNvPr id="91" name="Google Shape;91;p11"/>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1"/>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3" name="Google Shape;93;p1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tion avec légende">
  <p:cSld name="Citation avec légende">
    <p:spTree>
      <p:nvGrpSpPr>
        <p:cNvPr id="96" name="Shape 96"/>
        <p:cNvGrpSpPr/>
        <p:nvPr/>
      </p:nvGrpSpPr>
      <p:grpSpPr>
        <a:xfrm>
          <a:off x="0" y="0"/>
          <a:ext cx="0" cy="0"/>
          <a:chOff x="0" y="0"/>
          <a:chExt cx="0" cy="0"/>
        </a:xfrm>
      </p:grpSpPr>
      <p:sp>
        <p:nvSpPr>
          <p:cNvPr id="97" name="Google Shape;97;p12"/>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2"/>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9" name="Google Shape;99;p12"/>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0" name="Google Shape;100;p1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103" name="Google Shape;103;p12"/>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fr-FR" sz="8000">
                <a:solidFill>
                  <a:srgbClr val="56A9F3"/>
                </a:solidFill>
                <a:latin typeface="Arial"/>
                <a:ea typeface="Arial"/>
                <a:cs typeface="Arial"/>
                <a:sym typeface="Arial"/>
              </a:rPr>
              <a:t>“</a:t>
            </a:r>
            <a:endParaRPr/>
          </a:p>
        </p:txBody>
      </p:sp>
      <p:sp>
        <p:nvSpPr>
          <p:cNvPr id="104" name="Google Shape;104;p12"/>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fr-FR" sz="8000">
                <a:solidFill>
                  <a:srgbClr val="56A9F3"/>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te nom">
  <p:cSld name="Carte nom">
    <p:spTree>
      <p:nvGrpSpPr>
        <p:cNvPr id="105" name="Shape 105"/>
        <p:cNvGrpSpPr/>
        <p:nvPr/>
      </p:nvGrpSpPr>
      <p:grpSpPr>
        <a:xfrm>
          <a:off x="0" y="0"/>
          <a:ext cx="0" cy="0"/>
          <a:chOff x="0" y="0"/>
          <a:chExt cx="0" cy="0"/>
        </a:xfrm>
      </p:grpSpPr>
      <p:sp>
        <p:nvSpPr>
          <p:cNvPr id="106" name="Google Shape;106;p13"/>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3"/>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8" name="Google Shape;108;p1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te nom citation">
  <p:cSld name="Carte nom citation">
    <p:spTree>
      <p:nvGrpSpPr>
        <p:cNvPr id="111" name="Shape 111"/>
        <p:cNvGrpSpPr/>
        <p:nvPr/>
      </p:nvGrpSpPr>
      <p:grpSpPr>
        <a:xfrm>
          <a:off x="0" y="0"/>
          <a:ext cx="0" cy="0"/>
          <a:chOff x="0" y="0"/>
          <a:chExt cx="0" cy="0"/>
        </a:xfrm>
      </p:grpSpPr>
      <p:sp>
        <p:nvSpPr>
          <p:cNvPr id="112" name="Google Shape;112;p14"/>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4"/>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4" name="Google Shape;114;p14"/>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5" name="Google Shape;115;p1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118" name="Google Shape;118;p14"/>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fr-FR" sz="8000">
                <a:solidFill>
                  <a:srgbClr val="56A9F3"/>
                </a:solidFill>
                <a:latin typeface="Arial"/>
                <a:ea typeface="Arial"/>
                <a:cs typeface="Arial"/>
                <a:sym typeface="Arial"/>
              </a:rPr>
              <a:t>“</a:t>
            </a:r>
            <a:endParaRPr/>
          </a:p>
        </p:txBody>
      </p:sp>
      <p:sp>
        <p:nvSpPr>
          <p:cNvPr id="119" name="Google Shape;119;p14"/>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fr-FR" sz="8000">
                <a:solidFill>
                  <a:srgbClr val="56A9F3"/>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rai ou faux">
  <p:cSld name="Vrai ou faux">
    <p:spTree>
      <p:nvGrpSpPr>
        <p:cNvPr id="120" name="Shape 120"/>
        <p:cNvGrpSpPr/>
        <p:nvPr/>
      </p:nvGrpSpPr>
      <p:grpSpPr>
        <a:xfrm>
          <a:off x="0" y="0"/>
          <a:ext cx="0" cy="0"/>
          <a:chOff x="0" y="0"/>
          <a:chExt cx="0" cy="0"/>
        </a:xfrm>
      </p:grpSpPr>
      <p:sp>
        <p:nvSpPr>
          <p:cNvPr id="121" name="Google Shape;121;p15"/>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15"/>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3" name="Google Shape;123;p15"/>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4" name="Google Shape;124;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127" name="Shape 127"/>
        <p:cNvGrpSpPr/>
        <p:nvPr/>
      </p:nvGrpSpPr>
      <p:grpSpPr>
        <a:xfrm>
          <a:off x="0" y="0"/>
          <a:ext cx="0" cy="0"/>
          <a:chOff x="0" y="0"/>
          <a:chExt cx="0" cy="0"/>
        </a:xfrm>
      </p:grpSpPr>
      <p:sp>
        <p:nvSpPr>
          <p:cNvPr id="128" name="Google Shape;128;p1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6"/>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0" name="Google Shape;130;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133" name="Shape 133"/>
        <p:cNvGrpSpPr/>
        <p:nvPr/>
      </p:nvGrpSpPr>
      <p:grpSpPr>
        <a:xfrm>
          <a:off x="0" y="0"/>
          <a:ext cx="0" cy="0"/>
          <a:chOff x="0" y="0"/>
          <a:chExt cx="0" cy="0"/>
        </a:xfrm>
      </p:grpSpPr>
      <p:sp>
        <p:nvSpPr>
          <p:cNvPr id="134" name="Google Shape;134;p17"/>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17"/>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6" name="Google Shape;136;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1"/>
          <p:cNvGrpSpPr/>
          <p:nvPr/>
        </p:nvGrpSpPr>
        <p:grpSpPr>
          <a:xfrm>
            <a:off x="0" y="-8467"/>
            <a:ext cx="12192000" cy="6866467"/>
            <a:chOff x="0" y="-8467"/>
            <a:chExt cx="12192000" cy="6866467"/>
          </a:xfrm>
        </p:grpSpPr>
        <p:cxnSp>
          <p:nvCxnSpPr>
            <p:cNvPr id="7" name="Google Shape;7;p1"/>
            <p:cNvCxnSpPr/>
            <p:nvPr/>
          </p:nvCxnSpPr>
          <p:spPr>
            <a:xfrm>
              <a:off x="9371012" y="0"/>
              <a:ext cx="1219200" cy="6858000"/>
            </a:xfrm>
            <a:prstGeom prst="straightConnector1">
              <a:avLst/>
            </a:prstGeom>
            <a:noFill/>
            <a:ln cap="flat" cmpd="sng" w="9525">
              <a:solidFill>
                <a:schemeClr val="accent1">
                  <a:alpha val="70196"/>
                </a:schemeClr>
              </a:solidFill>
              <a:prstDash val="solid"/>
              <a:miter lim="8000"/>
              <a:headEnd len="sm" w="sm" type="none"/>
              <a:tailEnd len="sm" w="sm" type="none"/>
            </a:ln>
          </p:spPr>
        </p:cxnSp>
        <p:cxnSp>
          <p:nvCxnSpPr>
            <p:cNvPr id="8" name="Google Shape;8;p1"/>
            <p:cNvCxnSpPr/>
            <p:nvPr/>
          </p:nvCxnSpPr>
          <p:spPr>
            <a:xfrm flipH="1">
              <a:off x="7425267" y="3681413"/>
              <a:ext cx="4763558" cy="3176587"/>
            </a:xfrm>
            <a:prstGeom prst="straightConnector1">
              <a:avLst/>
            </a:prstGeom>
            <a:noFill/>
            <a:ln cap="flat" cmpd="sng" w="9525">
              <a:solidFill>
                <a:schemeClr val="accent1">
                  <a:alpha val="70196"/>
                </a:schemeClr>
              </a:solidFill>
              <a:prstDash val="solid"/>
              <a:miter lim="8000"/>
              <a:headEnd len="sm" w="sm" type="none"/>
              <a:tailEnd len="sm" w="sm" type="none"/>
            </a:ln>
          </p:spPr>
        </p:cxnSp>
        <p:sp>
          <p:nvSpPr>
            <p:cNvPr id="9" name="Google Shape;9;p1"/>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0" name="Google Shape;10;p1"/>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1"/>
            <p:cNvSpPr/>
            <p:nvPr/>
          </p:nvSpPr>
          <p:spPr>
            <a:xfrm>
              <a:off x="8932333" y="3048000"/>
              <a:ext cx="3259667" cy="3810000"/>
            </a:xfrm>
            <a:prstGeom prst="triangle">
              <a:avLst>
                <a:gd fmla="val 100000" name="adj"/>
              </a:avLst>
            </a:prstGeom>
            <a:solidFill>
              <a:srgbClr val="0B5394">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0B5394">
                <a:alpha val="50196"/>
              </a:srgbClr>
            </a:solidFill>
            <a:ln>
              <a:noFill/>
            </a:ln>
          </p:spPr>
        </p:sp>
        <p:sp>
          <p:nvSpPr>
            <p:cNvPr id="13" name="Google Shape;13;p1"/>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4" name="Google Shape;14;p1"/>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0075A2">
                <a:alpha val="80000"/>
              </a:srgbClr>
            </a:solidFill>
            <a:ln>
              <a:noFill/>
            </a:ln>
          </p:spPr>
        </p:sp>
        <p:sp>
          <p:nvSpPr>
            <p:cNvPr id="15" name="Google Shape;15;p1"/>
            <p:cNvSpPr/>
            <p:nvPr/>
          </p:nvSpPr>
          <p:spPr>
            <a:xfrm>
              <a:off x="10371666" y="3589867"/>
              <a:ext cx="1817159" cy="3268133"/>
            </a:xfrm>
            <a:prstGeom prst="triangle">
              <a:avLst>
                <a:gd fmla="val 100000" name="adj"/>
              </a:avLst>
            </a:prstGeom>
            <a:solidFill>
              <a:srgbClr val="0B5394">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 name="Google Shape;17;p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19" name="Google Shape;19;p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0" name="Google Shape;20;p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1" name="Google Shape;21;p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accent1"/>
              </a:buClr>
              <a:buSzPts val="5400"/>
              <a:buFont typeface="Trebuchet MS"/>
              <a:buNone/>
            </a:pPr>
            <a:r>
              <a:rPr lang="fr-FR"/>
              <a:t>Microsoft Windows Server</a:t>
            </a:r>
            <a:endParaRP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fr-FR"/>
              <a:t>PLAN DE PRESENTATION</a:t>
            </a:r>
            <a:endParaRPr/>
          </a:p>
        </p:txBody>
      </p:sp>
      <p:sp>
        <p:nvSpPr>
          <p:cNvPr id="149" name="Google Shape;149;p19"/>
          <p:cNvSpPr txBox="1"/>
          <p:nvPr>
            <p:ph idx="1" type="body"/>
          </p:nvPr>
        </p:nvSpPr>
        <p:spPr>
          <a:xfrm>
            <a:off x="677334" y="1351723"/>
            <a:ext cx="8596668" cy="4689640"/>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SzPct val="80000"/>
              <a:buChar char="►"/>
            </a:pPr>
            <a:r>
              <a:rPr lang="fr-FR"/>
              <a:t>INTRODUCTION</a:t>
            </a:r>
            <a:endParaRPr/>
          </a:p>
          <a:p>
            <a:pPr indent="-342900" lvl="0" marL="342900" rtl="0" algn="l">
              <a:spcBef>
                <a:spcPts val="1000"/>
              </a:spcBef>
              <a:spcAft>
                <a:spcPts val="0"/>
              </a:spcAft>
              <a:buSzPct val="80000"/>
              <a:buChar char="►"/>
            </a:pPr>
            <a:r>
              <a:rPr b="1" lang="fr-FR"/>
              <a:t>WINDOWS SERVER 2012 ET WINDOWS 8</a:t>
            </a:r>
            <a:endParaRPr/>
          </a:p>
          <a:p>
            <a:pPr indent="-342900" lvl="0" marL="342900" rtl="0" algn="l">
              <a:spcBef>
                <a:spcPts val="1000"/>
              </a:spcBef>
              <a:spcAft>
                <a:spcPts val="0"/>
              </a:spcAft>
              <a:buSzPct val="80000"/>
              <a:buChar char="►"/>
            </a:pPr>
            <a:r>
              <a:rPr lang="fr-FR"/>
              <a:t>INSTALATION DE Windows Server 2012</a:t>
            </a:r>
            <a:endParaRPr/>
          </a:p>
          <a:p>
            <a:pPr indent="-342900" lvl="0" marL="342900" rtl="0" algn="l">
              <a:spcBef>
                <a:spcPts val="1000"/>
              </a:spcBef>
              <a:spcAft>
                <a:spcPts val="0"/>
              </a:spcAft>
              <a:buSzPct val="80000"/>
              <a:buChar char="►"/>
            </a:pPr>
            <a:r>
              <a:rPr lang="fr-FR"/>
              <a:t>LES CARACTERISTIQUES DE WINDOWS SERVEUR 2012</a:t>
            </a:r>
            <a:endParaRPr/>
          </a:p>
          <a:p>
            <a:pPr indent="-342900" lvl="0" marL="342900" rtl="0" algn="l">
              <a:spcBef>
                <a:spcPts val="1000"/>
              </a:spcBef>
              <a:spcAft>
                <a:spcPts val="0"/>
              </a:spcAft>
              <a:buSzPct val="80000"/>
              <a:buChar char="►"/>
            </a:pPr>
            <a:r>
              <a:rPr lang="fr-FR"/>
              <a:t>INSTALLATION DES SERVERS</a:t>
            </a:r>
            <a:endParaRPr/>
          </a:p>
          <a:p>
            <a:pPr indent="-342900" lvl="0" marL="342900" rtl="0" algn="l">
              <a:spcBef>
                <a:spcPts val="1000"/>
              </a:spcBef>
              <a:spcAft>
                <a:spcPts val="0"/>
              </a:spcAft>
              <a:buSzPct val="80000"/>
              <a:buFont typeface="Courier New"/>
              <a:buChar char="o"/>
            </a:pPr>
            <a:r>
              <a:rPr b="1" lang="fr-FR"/>
              <a:t>SERVERS ACTIVE DIRECTOR</a:t>
            </a:r>
            <a:endParaRPr/>
          </a:p>
          <a:p>
            <a:pPr indent="-342900" lvl="0" marL="342900" rtl="0" algn="l">
              <a:spcBef>
                <a:spcPts val="1000"/>
              </a:spcBef>
              <a:spcAft>
                <a:spcPts val="0"/>
              </a:spcAft>
              <a:buSzPct val="80000"/>
              <a:buFont typeface="Courier New"/>
              <a:buChar char="o"/>
            </a:pPr>
            <a:r>
              <a:rPr b="1" lang="fr-FR"/>
              <a:t>INSTALLATION ET CONFIGURATION D’UN SERVEUR DNS WINDOWS SERVER 2012</a:t>
            </a:r>
            <a:endParaRPr/>
          </a:p>
          <a:p>
            <a:pPr indent="-342900" lvl="0" marL="342900" rtl="0" algn="l">
              <a:spcBef>
                <a:spcPts val="1000"/>
              </a:spcBef>
              <a:spcAft>
                <a:spcPts val="0"/>
              </a:spcAft>
              <a:buSzPct val="80000"/>
              <a:buFont typeface="Courier New"/>
              <a:buChar char="o"/>
            </a:pPr>
            <a:r>
              <a:rPr b="1" lang="fr-FR"/>
              <a:t>INSTALLATION ET CONFIGURATION D’UN SERVEUR DHCP WINDOWS SERVER 2012</a:t>
            </a:r>
            <a:endParaRPr/>
          </a:p>
          <a:p>
            <a:pPr indent="-342900" lvl="0" marL="342900" rtl="0" algn="l">
              <a:spcBef>
                <a:spcPts val="1000"/>
              </a:spcBef>
              <a:spcAft>
                <a:spcPts val="0"/>
              </a:spcAft>
              <a:buSzPct val="80000"/>
              <a:buChar char="►"/>
            </a:pPr>
            <a:r>
              <a:rPr b="1" lang="fr-FR"/>
              <a:t>LE ROLE SERVICE D’IMPRESSION</a:t>
            </a:r>
            <a:endParaRPr/>
          </a:p>
          <a:p>
            <a:pPr indent="-342900" lvl="0" marL="342900" rtl="0" algn="l">
              <a:spcBef>
                <a:spcPts val="1000"/>
              </a:spcBef>
              <a:spcAft>
                <a:spcPts val="0"/>
              </a:spcAft>
              <a:buSzPct val="80000"/>
              <a:buChar char="►"/>
            </a:pPr>
            <a:r>
              <a:rPr b="1" lang="fr-FR"/>
              <a:t>SERVICE BUREAU A DISTANCE SOUS WINDOWS SERVER 2012 </a:t>
            </a:r>
            <a:endParaRPr/>
          </a:p>
          <a:p>
            <a:pPr indent="-342900" lvl="0" marL="342900" rtl="0" algn="l">
              <a:spcBef>
                <a:spcPts val="1000"/>
              </a:spcBef>
              <a:spcAft>
                <a:spcPts val="0"/>
              </a:spcAft>
              <a:buSzPct val="80000"/>
              <a:buChar char="►"/>
            </a:pPr>
            <a:r>
              <a:rPr b="1" lang="fr-FR"/>
              <a:t>LES SECURITES</a:t>
            </a:r>
            <a:br>
              <a:rPr b="1" lang="fr-FR"/>
            </a:br>
            <a:endParaRPr/>
          </a:p>
          <a:p>
            <a:pPr indent="-258318" lvl="0" marL="342900" rtl="0" algn="l">
              <a:spcBef>
                <a:spcPts val="1000"/>
              </a:spcBef>
              <a:spcAft>
                <a:spcPts val="0"/>
              </a:spcAft>
              <a:buSzPct val="80000"/>
              <a:buNone/>
            </a:pPr>
            <a:r>
              <a:t/>
            </a:r>
            <a:endParaRPr b="1"/>
          </a:p>
          <a:p>
            <a:pPr indent="-258318" lvl="0" marL="342900" rtl="0" algn="l">
              <a:spcBef>
                <a:spcPts val="1000"/>
              </a:spcBef>
              <a:spcAft>
                <a:spcPts val="0"/>
              </a:spcAft>
              <a:buSzPct val="80000"/>
              <a:buNone/>
            </a:pPr>
            <a:r>
              <a:t/>
            </a:r>
            <a:endParaRPr/>
          </a:p>
          <a:p>
            <a:pPr indent="-258318" lvl="0" marL="342900" rtl="0" algn="l">
              <a:spcBef>
                <a:spcPts val="1000"/>
              </a:spcBef>
              <a:spcAft>
                <a:spcPts val="0"/>
              </a:spcAft>
              <a:buSzPct val="8000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animEffect filter="fade" transition="in">
                                      <p:cBhvr>
                                        <p:cTn dur="500"/>
                                        <p:tgtEl>
                                          <p:spTgt spid="1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animEffect filter="fade" transition="in">
                                      <p:cBhvr>
                                        <p:cTn dur="500"/>
                                        <p:tgtEl>
                                          <p:spTgt spid="1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2" st="2"/>
                                            </p:txEl>
                                          </p:spTgt>
                                        </p:tgtEl>
                                        <p:attrNameLst>
                                          <p:attrName>style.visibility</p:attrName>
                                        </p:attrNameLst>
                                      </p:cBhvr>
                                      <p:to>
                                        <p:strVal val="visible"/>
                                      </p:to>
                                    </p:set>
                                    <p:animEffect filter="fade" transition="in">
                                      <p:cBhvr>
                                        <p:cTn dur="500"/>
                                        <p:tgtEl>
                                          <p:spTgt spid="1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3" st="3"/>
                                            </p:txEl>
                                          </p:spTgt>
                                        </p:tgtEl>
                                        <p:attrNameLst>
                                          <p:attrName>style.visibility</p:attrName>
                                        </p:attrNameLst>
                                      </p:cBhvr>
                                      <p:to>
                                        <p:strVal val="visible"/>
                                      </p:to>
                                    </p:set>
                                    <p:animEffect filter="fade" transition="in">
                                      <p:cBhvr>
                                        <p:cTn dur="500"/>
                                        <p:tgtEl>
                                          <p:spTgt spid="1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4" st="4"/>
                                            </p:txEl>
                                          </p:spTgt>
                                        </p:tgtEl>
                                        <p:attrNameLst>
                                          <p:attrName>style.visibility</p:attrName>
                                        </p:attrNameLst>
                                      </p:cBhvr>
                                      <p:to>
                                        <p:strVal val="visible"/>
                                      </p:to>
                                    </p:set>
                                    <p:animEffect filter="fade" transition="in">
                                      <p:cBhvr>
                                        <p:cTn dur="500"/>
                                        <p:tgtEl>
                                          <p:spTgt spid="1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5" st="5"/>
                                            </p:txEl>
                                          </p:spTgt>
                                        </p:tgtEl>
                                        <p:attrNameLst>
                                          <p:attrName>style.visibility</p:attrName>
                                        </p:attrNameLst>
                                      </p:cBhvr>
                                      <p:to>
                                        <p:strVal val="visible"/>
                                      </p:to>
                                    </p:set>
                                    <p:animEffect filter="fade" transition="in">
                                      <p:cBhvr>
                                        <p:cTn dur="500"/>
                                        <p:tgtEl>
                                          <p:spTgt spid="1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6" st="6"/>
                                            </p:txEl>
                                          </p:spTgt>
                                        </p:tgtEl>
                                        <p:attrNameLst>
                                          <p:attrName>style.visibility</p:attrName>
                                        </p:attrNameLst>
                                      </p:cBhvr>
                                      <p:to>
                                        <p:strVal val="visible"/>
                                      </p:to>
                                    </p:set>
                                    <p:animEffect filter="fade" transition="in">
                                      <p:cBhvr>
                                        <p:cTn dur="500"/>
                                        <p:tgtEl>
                                          <p:spTgt spid="14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7" st="7"/>
                                            </p:txEl>
                                          </p:spTgt>
                                        </p:tgtEl>
                                        <p:attrNameLst>
                                          <p:attrName>style.visibility</p:attrName>
                                        </p:attrNameLst>
                                      </p:cBhvr>
                                      <p:to>
                                        <p:strVal val="visible"/>
                                      </p:to>
                                    </p:set>
                                    <p:animEffect filter="fade" transition="in">
                                      <p:cBhvr>
                                        <p:cTn dur="500"/>
                                        <p:tgtEl>
                                          <p:spTgt spid="14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8" st="8"/>
                                            </p:txEl>
                                          </p:spTgt>
                                        </p:tgtEl>
                                        <p:attrNameLst>
                                          <p:attrName>style.visibility</p:attrName>
                                        </p:attrNameLst>
                                      </p:cBhvr>
                                      <p:to>
                                        <p:strVal val="visible"/>
                                      </p:to>
                                    </p:set>
                                    <p:animEffect filter="fade" transition="in">
                                      <p:cBhvr>
                                        <p:cTn dur="500"/>
                                        <p:tgtEl>
                                          <p:spTgt spid="14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9" st="9"/>
                                            </p:txEl>
                                          </p:spTgt>
                                        </p:tgtEl>
                                        <p:attrNameLst>
                                          <p:attrName>style.visibility</p:attrName>
                                        </p:attrNameLst>
                                      </p:cBhvr>
                                      <p:to>
                                        <p:strVal val="visible"/>
                                      </p:to>
                                    </p:set>
                                    <p:animEffect filter="fade" transition="in">
                                      <p:cBhvr>
                                        <p:cTn dur="500"/>
                                        <p:tgtEl>
                                          <p:spTgt spid="14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0" st="10"/>
                                            </p:txEl>
                                          </p:spTgt>
                                        </p:tgtEl>
                                        <p:attrNameLst>
                                          <p:attrName>style.visibility</p:attrName>
                                        </p:attrNameLst>
                                      </p:cBhvr>
                                      <p:to>
                                        <p:strVal val="visible"/>
                                      </p:to>
                                    </p:set>
                                    <p:animEffect filter="fade" transition="in">
                                      <p:cBhvr>
                                        <p:cTn dur="500"/>
                                        <p:tgtEl>
                                          <p:spTgt spid="14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1" st="11"/>
                                            </p:txEl>
                                          </p:spTgt>
                                        </p:tgtEl>
                                        <p:attrNameLst>
                                          <p:attrName>style.visibility</p:attrName>
                                        </p:attrNameLst>
                                      </p:cBhvr>
                                      <p:to>
                                        <p:strVal val="visible"/>
                                      </p:to>
                                    </p:set>
                                    <p:animEffect filter="fade" transition="in">
                                      <p:cBhvr>
                                        <p:cTn dur="500"/>
                                        <p:tgtEl>
                                          <p:spTgt spid="14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2" st="12"/>
                                            </p:txEl>
                                          </p:spTgt>
                                        </p:tgtEl>
                                        <p:attrNameLst>
                                          <p:attrName>style.visibility</p:attrName>
                                        </p:attrNameLst>
                                      </p:cBhvr>
                                      <p:to>
                                        <p:strVal val="visible"/>
                                      </p:to>
                                    </p:set>
                                    <p:animEffect filter="fade" transition="in">
                                      <p:cBhvr>
                                        <p:cTn dur="500"/>
                                        <p:tgtEl>
                                          <p:spTgt spid="14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xEl>
                                              <p:pRg end="13" st="13"/>
                                            </p:txEl>
                                          </p:spTgt>
                                        </p:tgtEl>
                                        <p:attrNameLst>
                                          <p:attrName>style.visibility</p:attrName>
                                        </p:attrNameLst>
                                      </p:cBhvr>
                                      <p:to>
                                        <p:strVal val="visible"/>
                                      </p:to>
                                    </p:set>
                                    <p:animEffect filter="fade" transition="in">
                                      <p:cBhvr>
                                        <p:cTn dur="500"/>
                                        <p:tgtEl>
                                          <p:spTgt spid="149">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fr-FR"/>
              <a:t>INTRODUTION</a:t>
            </a:r>
            <a:endParaRPr/>
          </a:p>
        </p:txBody>
      </p:sp>
      <p:sp>
        <p:nvSpPr>
          <p:cNvPr id="155" name="Google Shape;155;p2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Microsoft Windows Server est un système d’exploitation serveur complet polyvalent et puissant</a:t>
            </a:r>
            <a:endParaRPr/>
          </a:p>
          <a:p>
            <a:pPr indent="-342900" lvl="0" marL="342900" rtl="0" algn="l">
              <a:spcBef>
                <a:spcPts val="1000"/>
              </a:spcBef>
              <a:spcAft>
                <a:spcPts val="0"/>
              </a:spcAft>
              <a:buSzPts val="1440"/>
              <a:buChar char="►"/>
            </a:pPr>
            <a:r>
              <a:rPr lang="fr-FR"/>
              <a:t>Il existe plusieurs version, entre autre on peut citer: Windows Server 2003, Windows Server 2008, Windows Server 2012, Windows Server 2016,</a:t>
            </a:r>
            <a:endParaRPr/>
          </a:p>
          <a:p>
            <a:pPr indent="-342900" lvl="0" marL="342900" rtl="0" algn="l">
              <a:spcBef>
                <a:spcPts val="1000"/>
              </a:spcBef>
              <a:spcAft>
                <a:spcPts val="0"/>
              </a:spcAft>
              <a:buSzPts val="1440"/>
              <a:buChar char="►"/>
            </a:pPr>
            <a:r>
              <a:rPr lang="fr-FR"/>
              <a:t>Notre présentation portera sur Windows Server 2012 qui se base sur les améliorations que Microsoft a apportées à Windows Server 2008 R2</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animEffect filter="fade" transition="in">
                                      <p:cBhvr>
                                        <p:cTn dur="1000"/>
                                        <p:tgtEl>
                                          <p:spTgt spid="1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animEffect filter="fade" transition="in">
                                      <p:cBhvr>
                                        <p:cTn dur="1000"/>
                                        <p:tgtEl>
                                          <p:spTgt spid="1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animEffect filter="fade" transition="in">
                                      <p:cBhvr>
                                        <p:cTn dur="1000"/>
                                        <p:tgtEl>
                                          <p:spTgt spid="155">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Trebuchet MS"/>
              <a:buNone/>
            </a:pPr>
            <a:r>
              <a:rPr b="1" lang="fr-FR"/>
              <a:t>WINDOWS SERVER 2012 ET WINDOWS 8:</a:t>
            </a:r>
            <a:br>
              <a:rPr b="1" lang="fr-FR"/>
            </a:br>
            <a:endParaRPr/>
          </a:p>
        </p:txBody>
      </p:sp>
      <p:sp>
        <p:nvSpPr>
          <p:cNvPr id="161" name="Google Shape;161;p21"/>
          <p:cNvSpPr txBox="1"/>
          <p:nvPr>
            <p:ph idx="1" type="body"/>
          </p:nvPr>
        </p:nvSpPr>
        <p:spPr>
          <a:xfrm>
            <a:off x="677333" y="2173841"/>
            <a:ext cx="8824475"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la majeure partie de ce que nous savons sur Windows 8 s’applique aussi à Windows Server 2012. </a:t>
            </a:r>
            <a:endParaRPr/>
          </a:p>
          <a:p>
            <a:pPr indent="-342900" lvl="0" marL="342900" rtl="0" algn="l">
              <a:spcBef>
                <a:spcPts val="1000"/>
              </a:spcBef>
              <a:spcAft>
                <a:spcPts val="0"/>
              </a:spcAft>
              <a:buSzPts val="1440"/>
              <a:buChar char="►"/>
            </a:pPr>
            <a:r>
              <a:rPr lang="fr-FR"/>
              <a:t>Ces fonctionnalités partagent une base de code qui couvre de nombreux domaines du système d’exploitation, notamment la gestion, la sécurité, le réseau et le stockage,</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animEffect filter="fade" transition="in">
                                      <p:cBhvr>
                                        <p:cTn dur="1000"/>
                                        <p:tgtEl>
                                          <p:spTgt spid="1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animEffect filter="fade" transition="in">
                                      <p:cBhvr>
                                        <p:cTn dur="1000"/>
                                        <p:tgtEl>
                                          <p:spTgt spid="16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fr-FR"/>
              <a:t>INSTALATION DE Windows Server 2012</a:t>
            </a:r>
            <a:endParaRPr/>
          </a:p>
        </p:txBody>
      </p:sp>
      <p:sp>
        <p:nvSpPr>
          <p:cNvPr id="167" name="Google Shape;167;p2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Avant de déployer Windows Server 2012, vous devez planifier soigneusement l’architecture du serveur. Dans votre projet d’implémentation, </a:t>
            </a:r>
            <a:endParaRPr/>
          </a:p>
          <a:p>
            <a:pPr indent="-342900" lvl="0" marL="342900" rtl="0" algn="l">
              <a:spcBef>
                <a:spcPts val="1000"/>
              </a:spcBef>
              <a:spcAft>
                <a:spcPts val="0"/>
              </a:spcAft>
              <a:buSzPts val="1440"/>
              <a:buChar char="►"/>
            </a:pPr>
            <a:r>
              <a:rPr lang="fr-FR"/>
              <a:t>vous devez examiner attentivement la configuration logicielle qui sera utilisée et modifier </a:t>
            </a:r>
            <a:endParaRPr/>
          </a:p>
          <a:p>
            <a:pPr indent="-342900" lvl="0" marL="342900" rtl="0" algn="l">
              <a:spcBef>
                <a:spcPts val="1000"/>
              </a:spcBef>
              <a:spcAft>
                <a:spcPts val="0"/>
              </a:spcAft>
              <a:buSzPts val="1440"/>
              <a:buChar char="►"/>
            </a:pPr>
            <a:r>
              <a:rPr lang="fr-FR"/>
              <a:t>la configuration matérielle de chaque serveur pour qu’elle corresponde aux exigences. Pour une plus grande souplesse dans le déploiement des serveurs,</a:t>
            </a:r>
            <a:endParaRPr/>
          </a:p>
          <a:p>
            <a:pPr indent="-342900" lvl="0" marL="342900" rtl="0" algn="l">
              <a:spcBef>
                <a:spcPts val="1000"/>
              </a:spcBef>
              <a:spcAft>
                <a:spcPts val="0"/>
              </a:spcAft>
              <a:buSzPts val="1440"/>
              <a:buChar char="►"/>
            </a:pPr>
            <a:r>
              <a:rPr lang="fr-FR"/>
              <a:t>On choisit ce type d’installation au cours de l’installation du système d’exploitation. Vous pouvez modifier le type d’installation une fois que le serveur a été installé, ce qui constitue un changement important par rapport aux versions précédentes de Windows Server.</a:t>
            </a:r>
            <a:endParaRPr/>
          </a:p>
          <a:p>
            <a:pPr indent="-342900" lvl="0" marL="342900" rtl="0" algn="l">
              <a:spcBef>
                <a:spcPts val="1000"/>
              </a:spcBef>
              <a:spcAft>
                <a:spcPts val="0"/>
              </a:spcAft>
              <a:buSzPts val="1440"/>
              <a:buChar char="►"/>
            </a:pPr>
            <a:r>
              <a:rPr lang="fr-FR"/>
              <a:t> on peut utiliser trois types d’installation :</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0" st="0"/>
                                            </p:txEl>
                                          </p:spTgt>
                                        </p:tgtEl>
                                        <p:attrNameLst>
                                          <p:attrName>style.visibility</p:attrName>
                                        </p:attrNameLst>
                                      </p:cBhvr>
                                      <p:to>
                                        <p:strVal val="visible"/>
                                      </p:to>
                                    </p:set>
                                    <p:animEffect filter="fade" transition="in">
                                      <p:cBhvr>
                                        <p:cTn dur="1000"/>
                                        <p:tgtEl>
                                          <p:spTgt spid="1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1" st="1"/>
                                            </p:txEl>
                                          </p:spTgt>
                                        </p:tgtEl>
                                        <p:attrNameLst>
                                          <p:attrName>style.visibility</p:attrName>
                                        </p:attrNameLst>
                                      </p:cBhvr>
                                      <p:to>
                                        <p:strVal val="visible"/>
                                      </p:to>
                                    </p:set>
                                    <p:animEffect filter="fade" transition="in">
                                      <p:cBhvr>
                                        <p:cTn dur="1000"/>
                                        <p:tgtEl>
                                          <p:spTgt spid="1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2" st="2"/>
                                            </p:txEl>
                                          </p:spTgt>
                                        </p:tgtEl>
                                        <p:attrNameLst>
                                          <p:attrName>style.visibility</p:attrName>
                                        </p:attrNameLst>
                                      </p:cBhvr>
                                      <p:to>
                                        <p:strVal val="visible"/>
                                      </p:to>
                                    </p:set>
                                    <p:animEffect filter="fade" transition="in">
                                      <p:cBhvr>
                                        <p:cTn dur="1000"/>
                                        <p:tgtEl>
                                          <p:spTgt spid="1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3" st="3"/>
                                            </p:txEl>
                                          </p:spTgt>
                                        </p:tgtEl>
                                        <p:attrNameLst>
                                          <p:attrName>style.visibility</p:attrName>
                                        </p:attrNameLst>
                                      </p:cBhvr>
                                      <p:to>
                                        <p:strVal val="visible"/>
                                      </p:to>
                                    </p:set>
                                    <p:animEffect filter="fade" transition="in">
                                      <p:cBhvr>
                                        <p:cTn dur="1000"/>
                                        <p:tgtEl>
                                          <p:spTgt spid="1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4" st="4"/>
                                            </p:txEl>
                                          </p:spTgt>
                                        </p:tgtEl>
                                        <p:attrNameLst>
                                          <p:attrName>style.visibility</p:attrName>
                                        </p:attrNameLst>
                                      </p:cBhvr>
                                      <p:to>
                                        <p:strVal val="visible"/>
                                      </p:to>
                                    </p:set>
                                    <p:animEffect filter="fade" transition="in">
                                      <p:cBhvr>
                                        <p:cTn dur="1000"/>
                                        <p:tgtEl>
                                          <p:spTgt spid="1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5" st="5"/>
                                            </p:txEl>
                                          </p:spTgt>
                                        </p:tgtEl>
                                        <p:attrNameLst>
                                          <p:attrName>style.visibility</p:attrName>
                                        </p:attrNameLst>
                                      </p:cBhvr>
                                      <p:to>
                                        <p:strVal val="visible"/>
                                      </p:to>
                                    </p:set>
                                    <p:animEffect filter="fade" transition="in">
                                      <p:cBhvr>
                                        <p:cTn dur="1000"/>
                                        <p:tgtEl>
                                          <p:spTgt spid="16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Trebuchet MS"/>
              <a:buNone/>
            </a:pPr>
            <a:r>
              <a:rPr b="1" lang="fr-FR"/>
              <a:t>1. Installation du serveur avec une interface graphique utilisateur:</a:t>
            </a:r>
            <a:br>
              <a:rPr b="1" lang="fr-FR"/>
            </a:br>
            <a:endParaRPr/>
          </a:p>
        </p:txBody>
      </p:sp>
      <p:sp>
        <p:nvSpPr>
          <p:cNvPr id="173" name="Google Shape;173;p2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t/>
            </a:r>
            <a:endParaRPr b="1"/>
          </a:p>
          <a:p>
            <a:pPr indent="0" lvl="0" marL="0" rtl="0" algn="l">
              <a:spcBef>
                <a:spcPts val="1000"/>
              </a:spcBef>
              <a:spcAft>
                <a:spcPts val="0"/>
              </a:spcAft>
              <a:buSzPts val="1440"/>
              <a:buNone/>
            </a:pPr>
            <a:r>
              <a:rPr b="1" lang="fr-FR"/>
              <a:t>Cette option, qui est aussi appelée installation serveur complète, offre des fonctionnalités complètes. Vous pouvez configurer un serveur pour qu’il possède n’importe quelle combinaison autorisée de rôles, de services de rôles et de fonctionnalités, tout en bénéficiant d’une interface utilisateur complète pour gérer le serveur. Cette option d’installation qui offre la solution la plus dynamique est recommandée pour les déploiements de Windows Server 2012 dans lesquels le rôle serveur peut évoluer au fil du temps.</a:t>
            </a:r>
            <a:endParaRPr/>
          </a:p>
          <a:p>
            <a:pPr indent="0" lvl="0" marL="0" rtl="0" algn="l">
              <a:spcBef>
                <a:spcPts val="1000"/>
              </a:spcBef>
              <a:spcAft>
                <a:spcPts val="0"/>
              </a:spcAft>
              <a:buSzPts val="1440"/>
              <a:buNone/>
            </a:pPr>
            <a:r>
              <a:t/>
            </a:r>
            <a:endParaRPr b="1"/>
          </a:p>
          <a:p>
            <a:pPr indent="0" lvl="0" marL="0" rtl="0" algn="l">
              <a:spcBef>
                <a:spcPts val="1000"/>
              </a:spcBef>
              <a:spcAft>
                <a:spcPts val="0"/>
              </a:spcAft>
              <a:buSzPts val="1440"/>
              <a:buNone/>
            </a:pPr>
            <a:r>
              <a:t/>
            </a:r>
            <a:endParaRPr b="1"/>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5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fr-FR"/>
              <a:t>2. Installation minimale:</a:t>
            </a:r>
            <a:br>
              <a:rPr b="1" lang="fr-FR"/>
            </a:br>
            <a:endParaRPr/>
          </a:p>
        </p:txBody>
      </p:sp>
      <p:sp>
        <p:nvSpPr>
          <p:cNvPr id="179" name="Google Shape;179;p2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Cette option d’installation minimale fournit un sous-ensemble fixe de rôles, mais n’inclut pas l’interpréteur de commandes graphique du serveur, Microsoft Management Console, ou l’Expérience utilisateur. Vous pouvez configurer une installation minimale avec un nombre limité de rôles.</a:t>
            </a:r>
            <a:endParaRPr/>
          </a:p>
          <a:p>
            <a:pPr indent="-342900" lvl="0" marL="342900" rtl="0" algn="l">
              <a:spcBef>
                <a:spcPts val="1000"/>
              </a:spcBef>
              <a:spcAft>
                <a:spcPts val="0"/>
              </a:spcAft>
              <a:buSzPts val="1440"/>
              <a:buChar char="►"/>
            </a:pPr>
            <a:r>
              <a:rPr lang="fr-FR"/>
              <a:t> Une interface utilisateur limitée est fournie pour gérer le serveur, et la plupart des opérations de gestion sont effectuées localement avec l’invite de commandes ou bien à distance en utilisant les outils de gestion. </a:t>
            </a:r>
            <a:endParaRPr/>
          </a:p>
          <a:p>
            <a:pPr indent="-342900" lvl="0" marL="342900" rtl="0" algn="l">
              <a:spcBef>
                <a:spcPts val="1000"/>
              </a:spcBef>
              <a:spcAft>
                <a:spcPts val="0"/>
              </a:spcAft>
              <a:buSzPts val="1440"/>
              <a:buChar char="►"/>
            </a:pPr>
            <a:r>
              <a:rPr lang="fr-FR"/>
              <a:t>Cette option d’installation convient parfaitement aux situations dans lesquelles on souhaite dédier des serveurs à des rôles serveur spécifiques ou bien à une combinaison de rôles. Comme les fonctionnalités supplémentaires ne sont pas installées, les traitements provoqués par les autres services sont réduits, ce qui fournit plus de ressources pour les rôles dédiés.</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0" st="0"/>
                                            </p:txEl>
                                          </p:spTgt>
                                        </p:tgtEl>
                                        <p:attrNameLst>
                                          <p:attrName>style.visibility</p:attrName>
                                        </p:attrNameLst>
                                      </p:cBhvr>
                                      <p:to>
                                        <p:strVal val="visible"/>
                                      </p:to>
                                    </p:set>
                                    <p:animEffect filter="fade" transition="in">
                                      <p:cBhvr>
                                        <p:cTn dur="1000"/>
                                        <p:tgtEl>
                                          <p:spTgt spid="1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1" st="1"/>
                                            </p:txEl>
                                          </p:spTgt>
                                        </p:tgtEl>
                                        <p:attrNameLst>
                                          <p:attrName>style.visibility</p:attrName>
                                        </p:attrNameLst>
                                      </p:cBhvr>
                                      <p:to>
                                        <p:strVal val="visible"/>
                                      </p:to>
                                    </p:set>
                                    <p:animEffect filter="fade" transition="in">
                                      <p:cBhvr>
                                        <p:cTn dur="1000"/>
                                        <p:tgtEl>
                                          <p:spTgt spid="1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2" st="2"/>
                                            </p:txEl>
                                          </p:spTgt>
                                        </p:tgtEl>
                                        <p:attrNameLst>
                                          <p:attrName>style.visibility</p:attrName>
                                        </p:attrNameLst>
                                      </p:cBhvr>
                                      <p:to>
                                        <p:strVal val="visible"/>
                                      </p:to>
                                    </p:set>
                                    <p:animEffect filter="fade" transition="in">
                                      <p:cBhvr>
                                        <p:cTn dur="1000"/>
                                        <p:tgtEl>
                                          <p:spTgt spid="17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fr-FR"/>
              <a:t>3. Installation du serveur avec une interface minimale</a:t>
            </a:r>
            <a:endParaRPr/>
          </a:p>
        </p:txBody>
      </p:sp>
      <p:sp>
        <p:nvSpPr>
          <p:cNvPr id="185" name="Google Shape;185;p2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Dans cette option d’installation intermédiaire, on accomplit une installation serveur complète, puis on supprime l’interpréteur de commandes graphique du serveur.</a:t>
            </a:r>
            <a:endParaRPr/>
          </a:p>
          <a:p>
            <a:pPr indent="-342900" lvl="0" marL="342900" rtl="0" algn="l">
              <a:spcBef>
                <a:spcPts val="1000"/>
              </a:spcBef>
              <a:spcAft>
                <a:spcPts val="0"/>
              </a:spcAft>
              <a:buSzPts val="1440"/>
              <a:buChar char="►"/>
            </a:pPr>
            <a:r>
              <a:rPr lang="fr-FR"/>
              <a:t> On conserve une interface utilisateur minimale, Microsoft Management Console, le Gestionnaire de serveur, et un sous-ensemble du Panneau de configuration pour la gestion locale. </a:t>
            </a:r>
            <a:endParaRPr/>
          </a:p>
          <a:p>
            <a:pPr indent="-342900" lvl="0" marL="342900" rtl="0" algn="l">
              <a:spcBef>
                <a:spcPts val="1000"/>
              </a:spcBef>
              <a:spcAft>
                <a:spcPts val="0"/>
              </a:spcAft>
              <a:buSzPts val="1440"/>
              <a:buChar char="►"/>
            </a:pPr>
            <a:r>
              <a:rPr lang="fr-FR"/>
              <a:t>Cette option d’installation convient parfaitement pour les situations où l’on souhaite contrôler soigneusement les tâches qui peuvent être accomplies sur un serveur, ainsi que les rôles et les fonctionnalités qui sont installés, sans pour autant bénéficier du confort de l’interface graphique.</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animEffect filter="fade" transition="in">
                                      <p:cBhvr>
                                        <p:cTn dur="1000"/>
                                        <p:tgtEl>
                                          <p:spTgt spid="1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1" st="1"/>
                                            </p:txEl>
                                          </p:spTgt>
                                        </p:tgtEl>
                                        <p:attrNameLst>
                                          <p:attrName>style.visibility</p:attrName>
                                        </p:attrNameLst>
                                      </p:cBhvr>
                                      <p:to>
                                        <p:strVal val="visible"/>
                                      </p:to>
                                    </p:set>
                                    <p:animEffect filter="fade" transition="in">
                                      <p:cBhvr>
                                        <p:cTn dur="1000"/>
                                        <p:tgtEl>
                                          <p:spTgt spid="1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2" st="2"/>
                                            </p:txEl>
                                          </p:spTgt>
                                        </p:tgtEl>
                                        <p:attrNameLst>
                                          <p:attrName>style.visibility</p:attrName>
                                        </p:attrNameLst>
                                      </p:cBhvr>
                                      <p:to>
                                        <p:strVal val="visible"/>
                                      </p:to>
                                    </p:set>
                                    <p:animEffect filter="fade" transition="in">
                                      <p:cBhvr>
                                        <p:cTn dur="1000"/>
                                        <p:tgtEl>
                                          <p:spTgt spid="18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3" st="3"/>
                                            </p:txEl>
                                          </p:spTgt>
                                        </p:tgtEl>
                                        <p:attrNameLst>
                                          <p:attrName>style.visibility</p:attrName>
                                        </p:attrNameLst>
                                      </p:cBhvr>
                                      <p:to>
                                        <p:strVal val="visible"/>
                                      </p:to>
                                    </p:set>
                                    <p:animEffect filter="fade" transition="in">
                                      <p:cBhvr>
                                        <p:cTn dur="1000"/>
                                        <p:tgtEl>
                                          <p:spTgt spid="18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fr-FR"/>
              <a:t>DIFFERENCE ENTRE LES TYPES D’INSTALLATION </a:t>
            </a:r>
            <a:endParaRPr/>
          </a:p>
        </p:txBody>
      </p:sp>
      <p:sp>
        <p:nvSpPr>
          <p:cNvPr id="191" name="Google Shape;191;p2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La principale différence entre les types d’installation réside dans la présence des outils de gestion graphiques et de l’interpréteur de commandes graphique. </a:t>
            </a:r>
            <a:endParaRPr/>
          </a:p>
          <a:p>
            <a:pPr indent="-342900" lvl="0" marL="342900" rtl="0" algn="l">
              <a:spcBef>
                <a:spcPts val="1000"/>
              </a:spcBef>
              <a:spcAft>
                <a:spcPts val="0"/>
              </a:spcAft>
              <a:buSzPts val="1440"/>
              <a:buChar char="►"/>
            </a:pPr>
            <a:r>
              <a:rPr lang="fr-FR"/>
              <a:t>Une installation minimale ne comporte ni l’un ni l’autre, alors que l’installation complète comprend les deux, et l’installation avec une interface minimale ne possède que les outils de gestion graphiques.</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animEffect filter="fade" transition="in">
                                      <p:cBhvr>
                                        <p:cTn dur="1000"/>
                                        <p:tgtEl>
                                          <p:spTgt spid="1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animEffect filter="fade" transition="in">
                                      <p:cBhvr>
                                        <p:cTn dur="1000"/>
                                        <p:tgtEl>
                                          <p:spTgt spid="19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ph type="title"/>
          </p:nvPr>
        </p:nvSpPr>
        <p:spPr>
          <a:xfrm>
            <a:off x="796603" y="569844"/>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fr-FR"/>
              <a:t>LES CARACTERISTIQUES DE WINDOWS SERVEUR 2012</a:t>
            </a:r>
            <a:endParaRPr/>
          </a:p>
        </p:txBody>
      </p:sp>
      <p:sp>
        <p:nvSpPr>
          <p:cNvPr id="197" name="Google Shape;197;p2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Font typeface="Noto Sans Symbols"/>
              <a:buChar char="❑"/>
            </a:pPr>
            <a:r>
              <a:rPr lang="fr-FR"/>
              <a:t> Modularité pour une indépendance linguistique et création d’images disque pour une indépendance matérielle </a:t>
            </a:r>
            <a:endParaRPr/>
          </a:p>
          <a:p>
            <a:pPr indent="-342900" lvl="0" marL="342900" rtl="0" algn="l">
              <a:spcBef>
                <a:spcPts val="1000"/>
              </a:spcBef>
              <a:spcAft>
                <a:spcPts val="0"/>
              </a:spcAft>
              <a:buSzPts val="1440"/>
              <a:buFont typeface="Noto Sans Symbols"/>
              <a:buChar char="❑"/>
            </a:pPr>
            <a:r>
              <a:rPr lang="fr-FR"/>
              <a:t>Environnements de pré-installation et de pré-démarrage</a:t>
            </a:r>
            <a:endParaRPr/>
          </a:p>
          <a:p>
            <a:pPr indent="-342900" lvl="0" marL="342900" rtl="0" algn="l">
              <a:spcBef>
                <a:spcPts val="1000"/>
              </a:spcBef>
              <a:spcAft>
                <a:spcPts val="0"/>
              </a:spcAft>
              <a:buSzPts val="1440"/>
              <a:buFont typeface="Noto Sans Symbols"/>
              <a:buChar char="❑"/>
            </a:pPr>
            <a:r>
              <a:rPr lang="fr-FR"/>
              <a:t>Contrôle de compte d’utilisateur et élévation de privilèges</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10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1000"/>
                                        <p:tgtEl>
                                          <p:spTgt spid="1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2" st="2"/>
                                            </p:txEl>
                                          </p:spTgt>
                                        </p:tgtEl>
                                        <p:attrNameLst>
                                          <p:attrName>style.visibility</p:attrName>
                                        </p:attrNameLst>
                                      </p:cBhvr>
                                      <p:to>
                                        <p:strVal val="visible"/>
                                      </p:to>
                                    </p:set>
                                    <p:animEffect filter="fade" transition="in">
                                      <p:cBhvr>
                                        <p:cTn dur="1000"/>
                                        <p:tgtEl>
                                          <p:spTgt spid="1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3" st="3"/>
                                            </p:txEl>
                                          </p:spTgt>
                                        </p:tgtEl>
                                        <p:attrNameLst>
                                          <p:attrName>style.visibility</p:attrName>
                                        </p:attrNameLst>
                                      </p:cBhvr>
                                      <p:to>
                                        <p:strVal val="visible"/>
                                      </p:to>
                                    </p:set>
                                    <p:animEffect filter="fade" transition="in">
                                      <p:cBhvr>
                                        <p:cTn dur="1000"/>
                                        <p:tgtEl>
                                          <p:spTgt spid="19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fr-FR"/>
              <a:t>Vue d’ensemble sur l’administration Windows server 2012</a:t>
            </a:r>
            <a:endParaRPr/>
          </a:p>
        </p:txBody>
      </p:sp>
      <p:sp>
        <p:nvSpPr>
          <p:cNvPr id="203" name="Google Shape;203;p2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fr-FR"/>
              <a:t>Lorsque l’on installe un système Windows Server 2012, on configure le système selon son rôle sur le réseau, en respectant les consignes suivantes :</a:t>
            </a:r>
            <a:endParaRPr/>
          </a:p>
          <a:p>
            <a:pPr indent="-342900" lvl="0" marL="342900" rtl="0" algn="l">
              <a:spcBef>
                <a:spcPts val="1000"/>
              </a:spcBef>
              <a:spcAft>
                <a:spcPts val="0"/>
              </a:spcAft>
              <a:buSzPts val="1440"/>
              <a:buFont typeface="Noto Sans Symbols"/>
              <a:buChar char="❑"/>
            </a:pPr>
            <a:r>
              <a:rPr lang="fr-FR"/>
              <a:t> Les serveurs sont généralement assignés à un groupe de travail ou un domaine.</a:t>
            </a:r>
            <a:endParaRPr/>
          </a:p>
          <a:p>
            <a:pPr indent="-342900" lvl="0" marL="342900" rtl="0" algn="l">
              <a:spcBef>
                <a:spcPts val="1000"/>
              </a:spcBef>
              <a:spcAft>
                <a:spcPts val="0"/>
              </a:spcAft>
              <a:buSzPts val="1440"/>
              <a:buFont typeface="Noto Sans Symbols"/>
              <a:buChar char="❑"/>
            </a:pPr>
            <a:r>
              <a:rPr lang="fr-FR"/>
              <a:t> Les groupes de travail sont des associations informelles d’ordinateurs dans lesquelles chaque ordinateur individuel est géré séparément. </a:t>
            </a:r>
            <a:endParaRPr/>
          </a:p>
          <a:p>
            <a:pPr indent="-342900" lvl="0" marL="342900" rtl="0" algn="l">
              <a:spcBef>
                <a:spcPts val="1000"/>
              </a:spcBef>
              <a:spcAft>
                <a:spcPts val="0"/>
              </a:spcAft>
              <a:buSzPts val="1440"/>
              <a:buFont typeface="Noto Sans Symbols"/>
              <a:buChar char="❑"/>
            </a:pPr>
            <a:r>
              <a:rPr lang="fr-FR"/>
              <a:t>Les domaines sont des collections d’ordinateurs que vous pouvez gérer collectivement grâce à des contrôleurs de domaine, qui sont des systèmes Windows Server 2012 gérant l’accès au réseau, à la base de données de l’annuaire et aux ressources partagées.</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animEffect filter="fade" transition="in">
                                      <p:cBhvr>
                                        <p:cTn dur="1000"/>
                                        <p:tgtEl>
                                          <p:spTgt spid="2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animEffect filter="fade" transition="in">
                                      <p:cBhvr>
                                        <p:cTn dur="1000"/>
                                        <p:tgtEl>
                                          <p:spTgt spid="2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2" st="2"/>
                                            </p:txEl>
                                          </p:spTgt>
                                        </p:tgtEl>
                                        <p:attrNameLst>
                                          <p:attrName>style.visibility</p:attrName>
                                        </p:attrNameLst>
                                      </p:cBhvr>
                                      <p:to>
                                        <p:strVal val="visible"/>
                                      </p:to>
                                    </p:set>
                                    <p:animEffect filter="fade" transition="in">
                                      <p:cBhvr>
                                        <p:cTn dur="1000"/>
                                        <p:tgtEl>
                                          <p:spTgt spid="2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3" st="3"/>
                                            </p:txEl>
                                          </p:spTgt>
                                        </p:tgtEl>
                                        <p:attrNameLst>
                                          <p:attrName>style.visibility</p:attrName>
                                        </p:attrNameLst>
                                      </p:cBhvr>
                                      <p:to>
                                        <p:strVal val="visible"/>
                                      </p:to>
                                    </p:set>
                                    <p:animEffect filter="fade" transition="in">
                                      <p:cBhvr>
                                        <p:cTn dur="1000"/>
                                        <p:tgtEl>
                                          <p:spTgt spid="2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4" st="4"/>
                                            </p:txEl>
                                          </p:spTgt>
                                        </p:tgtEl>
                                        <p:attrNameLst>
                                          <p:attrName>style.visibility</p:attrName>
                                        </p:attrNameLst>
                                      </p:cBhvr>
                                      <p:to>
                                        <p:strVal val="visible"/>
                                      </p:to>
                                    </p:set>
                                    <p:animEffect filter="fade" transition="in">
                                      <p:cBhvr>
                                        <p:cTn dur="1000"/>
                                        <p:tgtEl>
                                          <p:spTgt spid="20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fr-FR"/>
              <a:t>PRESENTATION DE L’INTERFACE </a:t>
            </a:r>
            <a:endParaRPr/>
          </a:p>
        </p:txBody>
      </p:sp>
      <p:sp>
        <p:nvSpPr>
          <p:cNvPr id="209" name="Google Shape;209;p2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Windows Server 2012 utilise un écran Démarrer (nommé Accueil). L’écran Démarrer est une fenêtre, et non pas un menu. Les programmes peuvent avoir des vignettes sur l’écran Démarrer. En cliquant sur une vignette, on exécute le programme. Lorsque vous faites un clic droit sur un programme, cela affiche en général un groupe d’options.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animEffect filter="fade" transition="in">
                                      <p:cBhvr>
                                        <p:cTn dur="1000"/>
                                        <p:tgtEl>
                                          <p:spTgt spid="20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30"/>
          <p:cNvPicPr preferRelativeResize="0"/>
          <p:nvPr/>
        </p:nvPicPr>
        <p:blipFill rotWithShape="1">
          <a:blip r:embed="rId3">
            <a:alphaModFix/>
          </a:blip>
          <a:srcRect b="0" l="0" r="0" t="0"/>
          <a:stretch/>
        </p:blipFill>
        <p:spPr>
          <a:xfrm>
            <a:off x="5188018" y="2895600"/>
            <a:ext cx="6844406" cy="3848100"/>
          </a:xfrm>
          <a:prstGeom prst="rect">
            <a:avLst/>
          </a:prstGeom>
          <a:noFill/>
          <a:ln>
            <a:noFill/>
          </a:ln>
        </p:spPr>
      </p:pic>
      <p:pic>
        <p:nvPicPr>
          <p:cNvPr id="215" name="Google Shape;215;p30"/>
          <p:cNvPicPr preferRelativeResize="0"/>
          <p:nvPr/>
        </p:nvPicPr>
        <p:blipFill rotWithShape="1">
          <a:blip r:embed="rId4">
            <a:alphaModFix/>
          </a:blip>
          <a:srcRect b="0" l="0" r="0" t="0"/>
          <a:stretch/>
        </p:blipFill>
        <p:spPr>
          <a:xfrm>
            <a:off x="0" y="1"/>
            <a:ext cx="6273800" cy="3160754"/>
          </a:xfrm>
          <a:prstGeom prst="rect">
            <a:avLst/>
          </a:prstGeom>
          <a:noFill/>
          <a:ln>
            <a:noFill/>
          </a:ln>
        </p:spPr>
      </p:pic>
    </p:spTree>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fr-FR"/>
              <a:t>Options de réseau</a:t>
            </a:r>
            <a:br>
              <a:rPr lang="fr-FR"/>
            </a:br>
            <a:endParaRPr/>
          </a:p>
        </p:txBody>
      </p:sp>
      <p:sp>
        <p:nvSpPr>
          <p:cNvPr id="221" name="Google Shape;221;p31"/>
          <p:cNvSpPr txBox="1"/>
          <p:nvPr>
            <p:ph idx="1" type="body"/>
          </p:nvPr>
        </p:nvSpPr>
        <p:spPr>
          <a:xfrm>
            <a:off x="463826" y="1815549"/>
            <a:ext cx="8810176" cy="422581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fr-FR"/>
              <a:t>un réseau est identifié comme l’un des types de réseau suivants :</a:t>
            </a:r>
            <a:endParaRPr/>
          </a:p>
          <a:p>
            <a:pPr indent="-342900" lvl="0" marL="342900" rtl="0" algn="l">
              <a:spcBef>
                <a:spcPts val="1000"/>
              </a:spcBef>
              <a:spcAft>
                <a:spcPts val="0"/>
              </a:spcAft>
              <a:buSzPts val="1440"/>
              <a:buFont typeface="Noto Sans Symbols"/>
              <a:buChar char="❑"/>
            </a:pPr>
            <a:r>
              <a:rPr b="1" lang="fr-FR"/>
              <a:t>Domaine</a:t>
            </a:r>
            <a:r>
              <a:rPr lang="fr-FR"/>
              <a:t> :Réseau dans lequel les ordinateurs sont connectés au domaine d’entreprise auquel ils appartiennent. </a:t>
            </a:r>
            <a:endParaRPr/>
          </a:p>
          <a:p>
            <a:pPr indent="-342900" lvl="0" marL="342900" rtl="0" algn="l">
              <a:spcBef>
                <a:spcPts val="1000"/>
              </a:spcBef>
              <a:spcAft>
                <a:spcPts val="0"/>
              </a:spcAft>
              <a:buSzPts val="1440"/>
              <a:buFont typeface="Noto Sans Symbols"/>
              <a:buChar char="❑"/>
            </a:pPr>
            <a:r>
              <a:rPr lang="fr-FR"/>
              <a:t> </a:t>
            </a:r>
            <a:r>
              <a:rPr b="1" lang="fr-FR"/>
              <a:t>Groupe de travail: </a:t>
            </a:r>
            <a:r>
              <a:rPr lang="fr-FR"/>
              <a:t>Réseau privé dans lequel les ordinateurs sont configurés comme membres d’un groupe de travail et ne sont pas connectés directement à l’Internet public. </a:t>
            </a:r>
            <a:endParaRPr/>
          </a:p>
          <a:p>
            <a:pPr indent="-342900" lvl="0" marL="342900" rtl="0" algn="l">
              <a:spcBef>
                <a:spcPts val="1000"/>
              </a:spcBef>
              <a:spcAft>
                <a:spcPts val="0"/>
              </a:spcAft>
              <a:buSzPts val="1440"/>
              <a:buFont typeface="Noto Sans Symbols"/>
              <a:buChar char="❑"/>
            </a:pPr>
            <a:r>
              <a:rPr b="1" lang="fr-FR"/>
              <a:t>Groupe résidentiel: </a:t>
            </a:r>
            <a:r>
              <a:rPr lang="fr-FR"/>
              <a:t>Réseau privé dans lequel les ordinateurs sont configurés comme membres d’un groupe résidentiel et ne sont pas connectés directement à l’Internet public. </a:t>
            </a:r>
            <a:endParaRPr/>
          </a:p>
          <a:p>
            <a:pPr indent="-342900" lvl="0" marL="342900" rtl="0" algn="l">
              <a:spcBef>
                <a:spcPts val="1000"/>
              </a:spcBef>
              <a:spcAft>
                <a:spcPts val="0"/>
              </a:spcAft>
              <a:buSzPts val="1440"/>
              <a:buFont typeface="Noto Sans Symbols"/>
              <a:buChar char="❑"/>
            </a:pPr>
            <a:r>
              <a:rPr b="1" lang="fr-FR"/>
              <a:t> Réseau public: </a:t>
            </a:r>
            <a:r>
              <a:rPr lang="fr-FR"/>
              <a:t>Réseau public dans lequel les ordinateurs sont connectés à un réseau situé dans un lieu public, comme un café ou un aéroport, et non à un réseau interne.</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1000"/>
                                        <p:tgtEl>
                                          <p:spTgt spid="2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Effect filter="fade" transition="in">
                                      <p:cBhvr>
                                        <p:cTn dur="1000"/>
                                        <p:tgtEl>
                                          <p:spTgt spid="2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animEffect filter="fade" transition="in">
                                      <p:cBhvr>
                                        <p:cTn dur="1000"/>
                                        <p:tgtEl>
                                          <p:spTgt spid="2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3" st="3"/>
                                            </p:txEl>
                                          </p:spTgt>
                                        </p:tgtEl>
                                        <p:attrNameLst>
                                          <p:attrName>style.visibility</p:attrName>
                                        </p:attrNameLst>
                                      </p:cBhvr>
                                      <p:to>
                                        <p:strVal val="visible"/>
                                      </p:to>
                                    </p:set>
                                    <p:animEffect filter="fade" transition="in">
                                      <p:cBhvr>
                                        <p:cTn dur="1000"/>
                                        <p:tgtEl>
                                          <p:spTgt spid="2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4" st="4"/>
                                            </p:txEl>
                                          </p:spTgt>
                                        </p:tgtEl>
                                        <p:attrNameLst>
                                          <p:attrName>style.visibility</p:attrName>
                                        </p:attrNameLst>
                                      </p:cBhvr>
                                      <p:to>
                                        <p:strVal val="visible"/>
                                      </p:to>
                                    </p:set>
                                    <p:animEffect filter="fade" transition="in">
                                      <p:cBhvr>
                                        <p:cTn dur="1000"/>
                                        <p:tgtEl>
                                          <p:spTgt spid="22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fr-FR"/>
              <a:t>Protocoles réseau</a:t>
            </a:r>
            <a:br>
              <a:rPr lang="fr-FR"/>
            </a:br>
            <a:endParaRPr/>
          </a:p>
        </p:txBody>
      </p:sp>
      <p:sp>
        <p:nvSpPr>
          <p:cNvPr id="227" name="Google Shape;227;p3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fr-FR"/>
              <a:t>Pour qu’un serveur accède à un réseau, vous devez installer le réseau TCP/IP ainsi qu’une carte réseau. </a:t>
            </a:r>
            <a:endParaRPr/>
          </a:p>
          <a:p>
            <a:pPr indent="0" lvl="0" marL="0" rtl="0" algn="l">
              <a:spcBef>
                <a:spcPts val="1000"/>
              </a:spcBef>
              <a:spcAft>
                <a:spcPts val="0"/>
              </a:spcAft>
              <a:buSzPts val="1440"/>
              <a:buNone/>
            </a:pPr>
            <a:r>
              <a:rPr lang="fr-FR"/>
              <a:t>Windows Server utilise TCP/IP comme protocole WAN par défaut.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500"/>
                                        <p:tgtEl>
                                          <p:spTgt spid="2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0" st="0"/>
                                            </p:txEl>
                                          </p:spTgt>
                                        </p:tgtEl>
                                        <p:attrNameLst>
                                          <p:attrName>style.visibility</p:attrName>
                                        </p:attrNameLst>
                                      </p:cBhvr>
                                      <p:to>
                                        <p:strVal val="visible"/>
                                      </p:to>
                                    </p:set>
                                    <p:animEffect filter="fade" transition="in">
                                      <p:cBhvr>
                                        <p:cTn dur="1000"/>
                                        <p:tgtEl>
                                          <p:spTgt spid="2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1" st="1"/>
                                            </p:txEl>
                                          </p:spTgt>
                                        </p:tgtEl>
                                        <p:attrNameLst>
                                          <p:attrName>style.visibility</p:attrName>
                                        </p:attrNameLst>
                                      </p:cBhvr>
                                      <p:to>
                                        <p:strVal val="visible"/>
                                      </p:to>
                                    </p:set>
                                    <p:animEffect filter="fade" transition="in">
                                      <p:cBhvr>
                                        <p:cTn dur="1000"/>
                                        <p:tgtEl>
                                          <p:spTgt spid="22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fr-FR"/>
              <a:t>Gestionnaire de serveur</a:t>
            </a:r>
            <a:endParaRPr/>
          </a:p>
        </p:txBody>
      </p:sp>
      <p:sp>
        <p:nvSpPr>
          <p:cNvPr id="233" name="Google Shape;233;p3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fr-FR"/>
              <a:t>Vous pouvez utiliser le Gestionnaire de serveur pour effectuer les tâches suivantes :</a:t>
            </a:r>
            <a:endParaRPr/>
          </a:p>
          <a:p>
            <a:pPr indent="-342900" lvl="0" marL="342900" rtl="0" algn="l">
              <a:spcBef>
                <a:spcPts val="1000"/>
              </a:spcBef>
              <a:spcAft>
                <a:spcPts val="0"/>
              </a:spcAft>
              <a:buSzPts val="1440"/>
              <a:buFont typeface="Noto Sans Symbols"/>
              <a:buChar char="❑"/>
            </a:pPr>
            <a:r>
              <a:rPr lang="fr-FR"/>
              <a:t>Ajout de serveurs pour la gestion à distance. </a:t>
            </a:r>
            <a:endParaRPr/>
          </a:p>
          <a:p>
            <a:pPr indent="-342900" lvl="0" marL="342900" rtl="0" algn="l">
              <a:spcBef>
                <a:spcPts val="1000"/>
              </a:spcBef>
              <a:spcAft>
                <a:spcPts val="0"/>
              </a:spcAft>
              <a:buSzPts val="1440"/>
              <a:buFont typeface="Noto Sans Symbols"/>
              <a:buChar char="❑"/>
            </a:pPr>
            <a:r>
              <a:rPr lang="fr-FR"/>
              <a:t>Lancement des connexions à distance aux serveurs. </a:t>
            </a:r>
            <a:endParaRPr/>
          </a:p>
          <a:p>
            <a:pPr indent="-342900" lvl="0" marL="342900" rtl="0" algn="l">
              <a:spcBef>
                <a:spcPts val="1000"/>
              </a:spcBef>
              <a:spcAft>
                <a:spcPts val="0"/>
              </a:spcAft>
              <a:buSzPts val="1440"/>
              <a:buFont typeface="Noto Sans Symbols"/>
              <a:buChar char="❑"/>
            </a:pPr>
            <a:r>
              <a:rPr lang="fr-FR"/>
              <a:t>Configuration du serveur local. </a:t>
            </a:r>
            <a:endParaRPr/>
          </a:p>
          <a:p>
            <a:pPr indent="-342900" lvl="0" marL="342900" rtl="0" algn="l">
              <a:spcBef>
                <a:spcPts val="1000"/>
              </a:spcBef>
              <a:spcAft>
                <a:spcPts val="0"/>
              </a:spcAft>
              <a:buSzPts val="1440"/>
              <a:buFont typeface="Noto Sans Symbols"/>
              <a:buChar char="❑"/>
            </a:pPr>
            <a:r>
              <a:rPr lang="fr-FR"/>
              <a:t> Gestion des rôles et des fonctionnalités installés. </a:t>
            </a:r>
            <a:endParaRPr/>
          </a:p>
          <a:p>
            <a:pPr indent="-342900" lvl="0" marL="342900" rtl="0" algn="l">
              <a:spcBef>
                <a:spcPts val="1000"/>
              </a:spcBef>
              <a:spcAft>
                <a:spcPts val="0"/>
              </a:spcAft>
              <a:buSzPts val="1440"/>
              <a:buFont typeface="Noto Sans Symbols"/>
              <a:buChar char="❑"/>
            </a:pPr>
            <a:r>
              <a:rPr lang="fr-FR"/>
              <a:t>Gestion des volumes et des partages sur les serveurs de fichiers. </a:t>
            </a:r>
            <a:endParaRPr/>
          </a:p>
          <a:p>
            <a:pPr indent="-342900" lvl="0" marL="342900" rtl="0" algn="l">
              <a:spcBef>
                <a:spcPts val="1000"/>
              </a:spcBef>
              <a:spcAft>
                <a:spcPts val="0"/>
              </a:spcAft>
              <a:buSzPts val="1440"/>
              <a:buFont typeface="Noto Sans Symbols"/>
              <a:buChar char="❑"/>
            </a:pPr>
            <a:r>
              <a:rPr lang="fr-FR"/>
              <a:t> Configuration de l’association de cartes réseau. </a:t>
            </a:r>
            <a:endParaRPr/>
          </a:p>
          <a:p>
            <a:pPr indent="-342900" lvl="0" marL="342900" rtl="0" algn="l">
              <a:spcBef>
                <a:spcPts val="1000"/>
              </a:spcBef>
              <a:spcAft>
                <a:spcPts val="0"/>
              </a:spcAft>
              <a:buSzPts val="1440"/>
              <a:buFont typeface="Noto Sans Symbols"/>
              <a:buChar char="❑"/>
            </a:pPr>
            <a:r>
              <a:rPr lang="fr-FR"/>
              <a:t>Affichage des événements et des alertes. </a:t>
            </a:r>
            <a:endParaRPr/>
          </a:p>
          <a:p>
            <a:pPr indent="-342900" lvl="0" marL="342900" rtl="0" algn="l">
              <a:spcBef>
                <a:spcPts val="1000"/>
              </a:spcBef>
              <a:spcAft>
                <a:spcPts val="0"/>
              </a:spcAft>
              <a:buSzPts val="1440"/>
              <a:buFont typeface="Noto Sans Symbols"/>
              <a:buChar char="❑"/>
            </a:pPr>
            <a:r>
              <a:rPr lang="fr-FR"/>
              <a:t>Redémarrage des serveurs.</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animEffect filter="fade" transition="in">
                                      <p:cBhvr>
                                        <p:cTn dur="1000"/>
                                        <p:tgtEl>
                                          <p:spTgt spid="2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1" st="1"/>
                                            </p:txEl>
                                          </p:spTgt>
                                        </p:tgtEl>
                                        <p:attrNameLst>
                                          <p:attrName>style.visibility</p:attrName>
                                        </p:attrNameLst>
                                      </p:cBhvr>
                                      <p:to>
                                        <p:strVal val="visible"/>
                                      </p:to>
                                    </p:set>
                                    <p:animEffect filter="fade" transition="in">
                                      <p:cBhvr>
                                        <p:cTn dur="1000"/>
                                        <p:tgtEl>
                                          <p:spTgt spid="2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2" st="2"/>
                                            </p:txEl>
                                          </p:spTgt>
                                        </p:tgtEl>
                                        <p:attrNameLst>
                                          <p:attrName>style.visibility</p:attrName>
                                        </p:attrNameLst>
                                      </p:cBhvr>
                                      <p:to>
                                        <p:strVal val="visible"/>
                                      </p:to>
                                    </p:set>
                                    <p:animEffect filter="fade" transition="in">
                                      <p:cBhvr>
                                        <p:cTn dur="1000"/>
                                        <p:tgtEl>
                                          <p:spTgt spid="2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3" st="3"/>
                                            </p:txEl>
                                          </p:spTgt>
                                        </p:tgtEl>
                                        <p:attrNameLst>
                                          <p:attrName>style.visibility</p:attrName>
                                        </p:attrNameLst>
                                      </p:cBhvr>
                                      <p:to>
                                        <p:strVal val="visible"/>
                                      </p:to>
                                    </p:set>
                                    <p:animEffect filter="fade" transition="in">
                                      <p:cBhvr>
                                        <p:cTn dur="1000"/>
                                        <p:tgtEl>
                                          <p:spTgt spid="2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4" st="4"/>
                                            </p:txEl>
                                          </p:spTgt>
                                        </p:tgtEl>
                                        <p:attrNameLst>
                                          <p:attrName>style.visibility</p:attrName>
                                        </p:attrNameLst>
                                      </p:cBhvr>
                                      <p:to>
                                        <p:strVal val="visible"/>
                                      </p:to>
                                    </p:set>
                                    <p:animEffect filter="fade" transition="in">
                                      <p:cBhvr>
                                        <p:cTn dur="1000"/>
                                        <p:tgtEl>
                                          <p:spTgt spid="23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5" st="5"/>
                                            </p:txEl>
                                          </p:spTgt>
                                        </p:tgtEl>
                                        <p:attrNameLst>
                                          <p:attrName>style.visibility</p:attrName>
                                        </p:attrNameLst>
                                      </p:cBhvr>
                                      <p:to>
                                        <p:strVal val="visible"/>
                                      </p:to>
                                    </p:set>
                                    <p:animEffect filter="fade" transition="in">
                                      <p:cBhvr>
                                        <p:cTn dur="1000"/>
                                        <p:tgtEl>
                                          <p:spTgt spid="23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6" st="6"/>
                                            </p:txEl>
                                          </p:spTgt>
                                        </p:tgtEl>
                                        <p:attrNameLst>
                                          <p:attrName>style.visibility</p:attrName>
                                        </p:attrNameLst>
                                      </p:cBhvr>
                                      <p:to>
                                        <p:strVal val="visible"/>
                                      </p:to>
                                    </p:set>
                                    <p:animEffect filter="fade" transition="in">
                                      <p:cBhvr>
                                        <p:cTn dur="1000"/>
                                        <p:tgtEl>
                                          <p:spTgt spid="23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7" st="7"/>
                                            </p:txEl>
                                          </p:spTgt>
                                        </p:tgtEl>
                                        <p:attrNameLst>
                                          <p:attrName>style.visibility</p:attrName>
                                        </p:attrNameLst>
                                      </p:cBhvr>
                                      <p:to>
                                        <p:strVal val="visible"/>
                                      </p:to>
                                    </p:set>
                                    <p:animEffect filter="fade" transition="in">
                                      <p:cBhvr>
                                        <p:cTn dur="1000"/>
                                        <p:tgtEl>
                                          <p:spTgt spid="23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8" st="8"/>
                                            </p:txEl>
                                          </p:spTgt>
                                        </p:tgtEl>
                                        <p:attrNameLst>
                                          <p:attrName>style.visibility</p:attrName>
                                        </p:attrNameLst>
                                      </p:cBhvr>
                                      <p:to>
                                        <p:strVal val="visible"/>
                                      </p:to>
                                    </p:set>
                                    <p:animEffect filter="fade" transition="in">
                                      <p:cBhvr>
                                        <p:cTn dur="1000"/>
                                        <p:tgtEl>
                                          <p:spTgt spid="23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9" st="9"/>
                                            </p:txEl>
                                          </p:spTgt>
                                        </p:tgtEl>
                                        <p:attrNameLst>
                                          <p:attrName>style.visibility</p:attrName>
                                        </p:attrNameLst>
                                      </p:cBhvr>
                                      <p:to>
                                        <p:strVal val="visible"/>
                                      </p:to>
                                    </p:set>
                                    <p:animEffect filter="fade" transition="in">
                                      <p:cBhvr>
                                        <p:cTn dur="1000"/>
                                        <p:tgtEl>
                                          <p:spTgt spid="23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34"/>
          <p:cNvPicPr preferRelativeResize="0"/>
          <p:nvPr/>
        </p:nvPicPr>
        <p:blipFill rotWithShape="1">
          <a:blip r:embed="rId3">
            <a:alphaModFix/>
          </a:blip>
          <a:srcRect b="0" l="0" r="0" t="0"/>
          <a:stretch/>
        </p:blipFill>
        <p:spPr>
          <a:xfrm>
            <a:off x="649358" y="490331"/>
            <a:ext cx="10441918" cy="5870712"/>
          </a:xfrm>
          <a:prstGeom prst="rect">
            <a:avLst/>
          </a:prstGeom>
          <a:noFill/>
          <a:ln>
            <a:noFill/>
          </a:ln>
        </p:spPr>
      </p:pic>
    </p:spTree>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5"/>
          <p:cNvSpPr txBox="1"/>
          <p:nvPr>
            <p:ph type="title"/>
          </p:nvPr>
        </p:nvSpPr>
        <p:spPr>
          <a:xfrm>
            <a:off x="745068" y="2634667"/>
            <a:ext cx="9850966"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fr-FR"/>
              <a:t>INSTALLATION DES SERVERS</a:t>
            </a:r>
            <a:endParaRPr/>
          </a:p>
        </p:txBody>
      </p:sp>
      <p:sp>
        <p:nvSpPr>
          <p:cNvPr id="244" name="Google Shape;244;p35"/>
          <p:cNvSpPr txBox="1"/>
          <p:nvPr>
            <p:ph idx="1" type="body"/>
          </p:nvPr>
        </p:nvSpPr>
        <p:spPr>
          <a:xfrm>
            <a:off x="677334" y="1422401"/>
            <a:ext cx="8596668" cy="46189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t/>
            </a:r>
            <a:endParaRPr b="1"/>
          </a:p>
          <a:p>
            <a:pPr indent="0" lvl="0" marL="0" rtl="0" algn="l">
              <a:spcBef>
                <a:spcPts val="1000"/>
              </a:spcBef>
              <a:spcAft>
                <a:spcPts val="0"/>
              </a:spcAft>
              <a:buSzPts val="1440"/>
              <a:buNone/>
            </a:pPr>
            <a:r>
              <a:t/>
            </a:r>
            <a:endParaRPr b="1"/>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fr-FR"/>
              <a:t>SERVERS ACTIVE DIRECTORY</a:t>
            </a:r>
            <a:endParaRPr/>
          </a:p>
        </p:txBody>
      </p:sp>
      <p:sp>
        <p:nvSpPr>
          <p:cNvPr id="250" name="Google Shape;250;p3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fr-FR"/>
              <a:t>Active Directory est un service d’annuaire permettant de référencer et d’organiser des objets comme des comptes utilisateurs, des noms de partages, des autorisations à l’aide de groupes de domaine etc.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lang="fr-FR"/>
              <a:t>Les informations peuvent ainsi être centralisées dans un annuaire de référence afin de faciliter l’administration du système d’information.</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b="1" lang="fr-FR"/>
              <a:t>Pour installer le ACTIVE DIRECTORY on procède comme suite:</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0" st="0"/>
                                            </p:txEl>
                                          </p:spTgt>
                                        </p:tgtEl>
                                        <p:attrNameLst>
                                          <p:attrName>style.visibility</p:attrName>
                                        </p:attrNameLst>
                                      </p:cBhvr>
                                      <p:to>
                                        <p:strVal val="visible"/>
                                      </p:to>
                                    </p:set>
                                    <p:animEffect filter="fade" transition="in">
                                      <p:cBhvr>
                                        <p:cTn dur="1000"/>
                                        <p:tgtEl>
                                          <p:spTgt spid="2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1" st="1"/>
                                            </p:txEl>
                                          </p:spTgt>
                                        </p:tgtEl>
                                        <p:attrNameLst>
                                          <p:attrName>style.visibility</p:attrName>
                                        </p:attrNameLst>
                                      </p:cBhvr>
                                      <p:to>
                                        <p:strVal val="visible"/>
                                      </p:to>
                                    </p:set>
                                    <p:animEffect filter="fade" transition="in">
                                      <p:cBhvr>
                                        <p:cTn dur="1000"/>
                                        <p:tgtEl>
                                          <p:spTgt spid="2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2" st="2"/>
                                            </p:txEl>
                                          </p:spTgt>
                                        </p:tgtEl>
                                        <p:attrNameLst>
                                          <p:attrName>style.visibility</p:attrName>
                                        </p:attrNameLst>
                                      </p:cBhvr>
                                      <p:to>
                                        <p:strVal val="visible"/>
                                      </p:to>
                                    </p:set>
                                    <p:animEffect filter="fade" transition="in">
                                      <p:cBhvr>
                                        <p:cTn dur="1000"/>
                                        <p:tgtEl>
                                          <p:spTgt spid="2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3" st="3"/>
                                            </p:txEl>
                                          </p:spTgt>
                                        </p:tgtEl>
                                        <p:attrNameLst>
                                          <p:attrName>style.visibility</p:attrName>
                                        </p:attrNameLst>
                                      </p:cBhvr>
                                      <p:to>
                                        <p:strVal val="visible"/>
                                      </p:to>
                                    </p:set>
                                    <p:animEffect filter="fade" transition="in">
                                      <p:cBhvr>
                                        <p:cTn dur="1000"/>
                                        <p:tgtEl>
                                          <p:spTgt spid="2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4" st="4"/>
                                            </p:txEl>
                                          </p:spTgt>
                                        </p:tgtEl>
                                        <p:attrNameLst>
                                          <p:attrName>style.visibility</p:attrName>
                                        </p:attrNameLst>
                                      </p:cBhvr>
                                      <p:to>
                                        <p:strVal val="visible"/>
                                      </p:to>
                                    </p:set>
                                    <p:animEffect filter="fade" transition="in">
                                      <p:cBhvr>
                                        <p:cTn dur="1000"/>
                                        <p:tgtEl>
                                          <p:spTgt spid="2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xEl>
                                              <p:pRg end="5" st="5"/>
                                            </p:txEl>
                                          </p:spTgt>
                                        </p:tgtEl>
                                        <p:attrNameLst>
                                          <p:attrName>style.visibility</p:attrName>
                                        </p:attrNameLst>
                                      </p:cBhvr>
                                      <p:to>
                                        <p:strVal val="visible"/>
                                      </p:to>
                                    </p:set>
                                    <p:animEffect filter="fade" transition="in">
                                      <p:cBhvr>
                                        <p:cTn dur="1000"/>
                                        <p:tgtEl>
                                          <p:spTgt spid="25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7"/>
          <p:cNvSpPr txBox="1"/>
          <p:nvPr>
            <p:ph type="title"/>
          </p:nvPr>
        </p:nvSpPr>
        <p:spPr>
          <a:xfrm>
            <a:off x="677334" y="609600"/>
            <a:ext cx="9195536"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fr-FR"/>
              <a:t>SERVERS ACTIVE DIRECTOR</a:t>
            </a:r>
            <a:endParaRPr/>
          </a:p>
        </p:txBody>
      </p:sp>
      <p:sp>
        <p:nvSpPr>
          <p:cNvPr id="256" name="Google Shape;256;p37"/>
          <p:cNvSpPr/>
          <p:nvPr/>
        </p:nvSpPr>
        <p:spPr>
          <a:xfrm>
            <a:off x="677334" y="2109881"/>
            <a:ext cx="8744962" cy="72943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b="0" i="0" lang="fr-FR" sz="1800" u="none" cap="none" strike="noStrike">
                <a:solidFill>
                  <a:schemeClr val="dk1"/>
                </a:solidFill>
                <a:latin typeface="Calibri"/>
                <a:ea typeface="Calibri"/>
                <a:cs typeface="Calibri"/>
                <a:sym typeface="Calibri"/>
              </a:rPr>
              <a:t>Une fois que vous y êtes, cliquez sur « </a:t>
            </a:r>
            <a:r>
              <a:rPr b="1" i="0" lang="fr-FR" sz="1800" u="none" cap="none" strike="noStrike">
                <a:solidFill>
                  <a:schemeClr val="dk1"/>
                </a:solidFill>
                <a:latin typeface="Calibri"/>
                <a:ea typeface="Calibri"/>
                <a:cs typeface="Calibri"/>
                <a:sym typeface="Calibri"/>
              </a:rPr>
              <a:t>Ajouter des rôles et des fonctionnalités</a:t>
            </a:r>
            <a:r>
              <a:rPr b="0" i="0" lang="fr-FR" sz="1800" u="none" cap="none" strike="noStrike">
                <a:solidFill>
                  <a:schemeClr val="dk1"/>
                </a:solidFill>
                <a:latin typeface="Calibri"/>
                <a:ea typeface="Calibri"/>
                <a:cs typeface="Calibri"/>
                <a:sym typeface="Calibri"/>
              </a:rPr>
              <a:t> » présent dans la section « </a:t>
            </a:r>
            <a:r>
              <a:rPr b="1" i="0" lang="fr-FR" sz="1800" u="none" cap="none" strike="noStrike">
                <a:solidFill>
                  <a:schemeClr val="dk1"/>
                </a:solidFill>
                <a:latin typeface="Calibri"/>
                <a:ea typeface="Calibri"/>
                <a:cs typeface="Calibri"/>
                <a:sym typeface="Calibri"/>
              </a:rPr>
              <a:t>Démarrage rapide</a:t>
            </a:r>
            <a:r>
              <a:rPr b="0" i="0" lang="fr-FR" sz="1800" u="none" cap="none" strike="noStrike">
                <a:solidFill>
                  <a:schemeClr val="dk1"/>
                </a:solidFill>
                <a:latin typeface="Calibri"/>
                <a:ea typeface="Calibri"/>
                <a:cs typeface="Calibri"/>
                <a:sym typeface="Calibri"/>
              </a:rPr>
              <a:t> ».</a:t>
            </a:r>
            <a:endParaRPr b="0" i="0" sz="1600" u="none" cap="none" strike="noStrike">
              <a:solidFill>
                <a:schemeClr val="dk1"/>
              </a:solidFill>
              <a:latin typeface="Calibri"/>
              <a:ea typeface="Calibri"/>
              <a:cs typeface="Calibri"/>
              <a:sym typeface="Calibri"/>
            </a:endParaRPr>
          </a:p>
        </p:txBody>
      </p:sp>
      <p:pic>
        <p:nvPicPr>
          <p:cNvPr descr="C:\Users\DRA\Pictures\W2012\ad2.PNG" id="257" name="Google Shape;257;p37"/>
          <p:cNvPicPr preferRelativeResize="0"/>
          <p:nvPr/>
        </p:nvPicPr>
        <p:blipFill rotWithShape="1">
          <a:blip r:embed="rId3">
            <a:alphaModFix/>
          </a:blip>
          <a:srcRect b="0" l="0" r="0" t="0"/>
          <a:stretch/>
        </p:blipFill>
        <p:spPr>
          <a:xfrm>
            <a:off x="1866112" y="3018792"/>
            <a:ext cx="6058688" cy="3285490"/>
          </a:xfrm>
          <a:prstGeom prst="rect">
            <a:avLst/>
          </a:prstGeom>
          <a:noFill/>
          <a:ln>
            <a:noFill/>
          </a:ln>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38"/>
          <p:cNvPicPr preferRelativeResize="0"/>
          <p:nvPr/>
        </p:nvPicPr>
        <p:blipFill rotWithShape="1">
          <a:blip r:embed="rId3">
            <a:alphaModFix/>
          </a:blip>
          <a:srcRect b="0" l="0" r="0" t="0"/>
          <a:stretch/>
        </p:blipFill>
        <p:spPr>
          <a:xfrm>
            <a:off x="967410" y="1347304"/>
            <a:ext cx="7805528" cy="4813502"/>
          </a:xfrm>
          <a:prstGeom prst="rect">
            <a:avLst/>
          </a:prstGeom>
          <a:noFill/>
          <a:ln>
            <a:noFill/>
          </a:ln>
        </p:spPr>
      </p:pic>
      <p:sp>
        <p:nvSpPr>
          <p:cNvPr id="263" name="Google Shape;263;p38"/>
          <p:cNvSpPr/>
          <p:nvPr/>
        </p:nvSpPr>
        <p:spPr>
          <a:xfrm>
            <a:off x="1300187" y="731655"/>
            <a:ext cx="8744962" cy="392159"/>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b="1" i="0" lang="fr-FR" sz="1800" u="none" cap="none" strike="noStrike">
                <a:solidFill>
                  <a:schemeClr val="dk1"/>
                </a:solidFill>
                <a:latin typeface="Calibri"/>
                <a:ea typeface="Calibri"/>
                <a:cs typeface="Calibri"/>
                <a:sym typeface="Calibri"/>
              </a:rPr>
              <a:t>Clique sur</a:t>
            </a:r>
            <a:r>
              <a:rPr b="1" i="0" lang="fr-FR" sz="1800" u="sng" cap="none" strike="noStrike">
                <a:solidFill>
                  <a:schemeClr val="dk1"/>
                </a:solidFill>
                <a:latin typeface="Calibri"/>
                <a:ea typeface="Calibri"/>
                <a:cs typeface="Calibri"/>
                <a:sym typeface="Calibri"/>
              </a:rPr>
              <a:t> suivant </a:t>
            </a:r>
            <a:r>
              <a:rPr b="1" i="0" lang="fr-FR" sz="1800" u="none" cap="none" strike="noStrike">
                <a:solidFill>
                  <a:schemeClr val="dk1"/>
                </a:solidFill>
                <a:latin typeface="Calibri"/>
                <a:ea typeface="Calibri"/>
                <a:cs typeface="Calibri"/>
                <a:sym typeface="Calibri"/>
              </a:rPr>
              <a:t>pour continuer </a:t>
            </a:r>
            <a:endParaRPr/>
          </a:p>
        </p:txBody>
      </p:sp>
    </p:spTree>
  </p:cSld>
  <p:clrMapOvr>
    <a:masterClrMapping/>
  </p:clrMapOvr>
  <p:transition spd="slow">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9"/>
          <p:cNvSpPr/>
          <p:nvPr/>
        </p:nvSpPr>
        <p:spPr>
          <a:xfrm>
            <a:off x="1041952" y="625637"/>
            <a:ext cx="8744962" cy="358816"/>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b="0" i="0" lang="fr-FR" sz="1600" u="none" cap="none" strike="noStrike">
                <a:solidFill>
                  <a:schemeClr val="dk1"/>
                </a:solidFill>
                <a:latin typeface="Calibri"/>
                <a:ea typeface="Calibri"/>
                <a:cs typeface="Calibri"/>
                <a:sym typeface="Calibri"/>
              </a:rPr>
              <a:t>Clique sur WIN-LOUR7JFL109 puis suivant </a:t>
            </a:r>
            <a:endParaRPr/>
          </a:p>
        </p:txBody>
      </p:sp>
      <p:pic>
        <p:nvPicPr>
          <p:cNvPr id="269" name="Google Shape;269;p39"/>
          <p:cNvPicPr preferRelativeResize="0"/>
          <p:nvPr/>
        </p:nvPicPr>
        <p:blipFill rotWithShape="1">
          <a:blip r:embed="rId3">
            <a:alphaModFix/>
          </a:blip>
          <a:srcRect b="0" l="0" r="0" t="0"/>
          <a:stretch/>
        </p:blipFill>
        <p:spPr>
          <a:xfrm>
            <a:off x="1041952" y="1594054"/>
            <a:ext cx="6631057" cy="4718883"/>
          </a:xfrm>
          <a:prstGeom prst="rect">
            <a:avLst/>
          </a:prstGeom>
          <a:noFill/>
          <a:ln>
            <a:noFill/>
          </a:ln>
        </p:spPr>
      </p:pic>
    </p:spTree>
  </p:cSld>
  <p:clrMapOvr>
    <a:masterClrMapping/>
  </p:clrMapOvr>
  <p:transition spd="slow">
    <p:fade thruBlk="1"/>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0"/>
          <p:cNvSpPr txBox="1"/>
          <p:nvPr>
            <p:ph idx="1" type="body"/>
          </p:nvPr>
        </p:nvSpPr>
        <p:spPr>
          <a:xfrm>
            <a:off x="583096" y="410818"/>
            <a:ext cx="8664402" cy="229262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fr-FR"/>
              <a:t>Au niveau des rôles, sélectionnez «</a:t>
            </a:r>
            <a:r>
              <a:rPr b="1" lang="fr-FR"/>
              <a:t> Service AD DS</a:t>
            </a:r>
            <a:r>
              <a:rPr lang="fr-FR"/>
              <a:t> » qui correspond au service de domaine Active Directory en cochant la case. </a:t>
            </a:r>
            <a:endParaRPr/>
          </a:p>
          <a:p>
            <a:pPr indent="0" lvl="0" marL="0" rtl="0" algn="l">
              <a:spcBef>
                <a:spcPts val="1000"/>
              </a:spcBef>
              <a:spcAft>
                <a:spcPts val="0"/>
              </a:spcAft>
              <a:buSzPts val="1440"/>
              <a:buNone/>
            </a:pPr>
            <a:r>
              <a:rPr lang="fr-FR"/>
              <a:t>Une fenêtre va apparaître pour vous indiquer que d’autres éléments requis par AD DS doivent être installés, cliquez sur « </a:t>
            </a:r>
            <a:r>
              <a:rPr b="1" lang="fr-FR"/>
              <a:t>Ajouter des fonctionnalités</a:t>
            </a:r>
            <a:r>
              <a:rPr lang="fr-FR"/>
              <a:t> ». Ensuite,</a:t>
            </a:r>
            <a:endParaRPr/>
          </a:p>
          <a:p>
            <a:pPr indent="0" lvl="0" marL="0" rtl="0" algn="l">
              <a:spcBef>
                <a:spcPts val="1000"/>
              </a:spcBef>
              <a:spcAft>
                <a:spcPts val="0"/>
              </a:spcAft>
              <a:buSzPts val="1440"/>
              <a:buNone/>
            </a:pPr>
            <a:r>
              <a:rPr lang="fr-FR"/>
              <a:t> cliquez sur « </a:t>
            </a:r>
            <a:r>
              <a:rPr b="1" lang="fr-FR"/>
              <a:t>Suivant</a:t>
            </a:r>
            <a:r>
              <a:rPr lang="fr-FR"/>
              <a:t> ».</a:t>
            </a:r>
            <a:endParaRPr/>
          </a:p>
          <a:p>
            <a:pPr indent="0" lvl="0" marL="0" rtl="0" algn="l">
              <a:spcBef>
                <a:spcPts val="1000"/>
              </a:spcBef>
              <a:spcAft>
                <a:spcPts val="0"/>
              </a:spcAft>
              <a:buSzPts val="1440"/>
              <a:buNone/>
            </a:pPr>
            <a:r>
              <a:t/>
            </a:r>
            <a:endParaRPr/>
          </a:p>
        </p:txBody>
      </p:sp>
      <p:pic>
        <p:nvPicPr>
          <p:cNvPr id="275" name="Google Shape;275;p40"/>
          <p:cNvPicPr preferRelativeResize="0"/>
          <p:nvPr/>
        </p:nvPicPr>
        <p:blipFill rotWithShape="1">
          <a:blip r:embed="rId3">
            <a:alphaModFix/>
          </a:blip>
          <a:srcRect b="0" l="0" r="0" t="0"/>
          <a:stretch/>
        </p:blipFill>
        <p:spPr>
          <a:xfrm>
            <a:off x="3256102" y="1726302"/>
            <a:ext cx="6802300" cy="4808085"/>
          </a:xfrm>
          <a:prstGeom prst="rect">
            <a:avLst/>
          </a:prstGeom>
          <a:noFill/>
          <a:ln>
            <a:noFill/>
          </a:ln>
        </p:spPr>
      </p:pic>
    </p:spTree>
  </p:cSld>
  <p:clrMapOvr>
    <a:masterClrMapping/>
  </p:clrMapOvr>
  <p:transition spd="slow">
    <p:fade thruBlk="1"/>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1"/>
          <p:cNvSpPr/>
          <p:nvPr/>
        </p:nvSpPr>
        <p:spPr>
          <a:xfrm>
            <a:off x="172278" y="120812"/>
            <a:ext cx="9395792" cy="1685077"/>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b="0" i="0" lang="fr-FR" sz="1800" u="none" cap="none" strike="noStrike">
                <a:solidFill>
                  <a:schemeClr val="dk1"/>
                </a:solidFill>
                <a:latin typeface="Calibri"/>
                <a:ea typeface="Calibri"/>
                <a:cs typeface="Calibri"/>
                <a:sym typeface="Calibri"/>
              </a:rPr>
              <a:t>Au niveau des fonctionnalités, nous avons besoin de rien, cliquez sur « </a:t>
            </a:r>
            <a:r>
              <a:rPr b="1" i="0" lang="fr-FR" sz="1800" u="none" cap="none" strike="noStrike">
                <a:solidFill>
                  <a:schemeClr val="dk1"/>
                </a:solidFill>
                <a:latin typeface="Calibri"/>
                <a:ea typeface="Calibri"/>
                <a:cs typeface="Calibri"/>
                <a:sym typeface="Calibri"/>
              </a:rPr>
              <a:t>Suivant</a:t>
            </a:r>
            <a:r>
              <a:rPr b="0" i="0" lang="fr-FR" sz="1800" u="none" cap="none" strike="noStrike">
                <a:solidFill>
                  <a:schemeClr val="dk1"/>
                </a:solidFill>
                <a:latin typeface="Calibri"/>
                <a:ea typeface="Calibri"/>
                <a:cs typeface="Calibri"/>
                <a:sym typeface="Calibri"/>
              </a:rPr>
              <a:t> » directement. Ensuite, lisez les explications concernant AD DS et cliquez sur « </a:t>
            </a:r>
            <a:r>
              <a:rPr b="1" i="0" lang="fr-FR" sz="1800" u="none" cap="none" strike="noStrike">
                <a:solidFill>
                  <a:schemeClr val="dk1"/>
                </a:solidFill>
                <a:latin typeface="Calibri"/>
                <a:ea typeface="Calibri"/>
                <a:cs typeface="Calibri"/>
                <a:sym typeface="Calibri"/>
              </a:rPr>
              <a:t>Suivant</a:t>
            </a:r>
            <a:r>
              <a:rPr b="0" i="0" lang="fr-FR" sz="1800" u="none" cap="none" strike="noStrike">
                <a:solidFill>
                  <a:schemeClr val="dk1"/>
                </a:solidFill>
                <a:latin typeface="Calibri"/>
                <a:ea typeface="Calibri"/>
                <a:cs typeface="Calibri"/>
                <a:sym typeface="Calibri"/>
              </a:rPr>
              <a:t> » à nouveau. Un récapitulatif des éléments qui vont être installés et affichés, cliquez sur « </a:t>
            </a:r>
            <a:r>
              <a:rPr b="1" i="0" lang="fr-FR" sz="1800" u="none" cap="none" strike="noStrike">
                <a:solidFill>
                  <a:schemeClr val="dk1"/>
                </a:solidFill>
                <a:latin typeface="Calibri"/>
                <a:ea typeface="Calibri"/>
                <a:cs typeface="Calibri"/>
                <a:sym typeface="Calibri"/>
              </a:rPr>
              <a:t>Installer</a:t>
            </a:r>
            <a:r>
              <a:rPr b="0" i="0" lang="fr-FR" sz="1800" u="none" cap="none" strike="noStrike">
                <a:solidFill>
                  <a:schemeClr val="dk1"/>
                </a:solidFill>
                <a:latin typeface="Calibri"/>
                <a:ea typeface="Calibri"/>
                <a:cs typeface="Calibri"/>
                <a:sym typeface="Calibri"/>
              </a:rPr>
              <a:t> » pour exécuter l’installation des divers éléments. Une fois que c’est terminé c’est-à-dire que le message «</a:t>
            </a:r>
            <a:r>
              <a:rPr b="1" i="0" lang="fr-FR" sz="1800" u="none" cap="none" strike="noStrike">
                <a:solidFill>
                  <a:schemeClr val="dk1"/>
                </a:solidFill>
                <a:latin typeface="Calibri"/>
                <a:ea typeface="Calibri"/>
                <a:cs typeface="Calibri"/>
                <a:sym typeface="Calibri"/>
              </a:rPr>
              <a:t> Installation réussie sur svr1kk</a:t>
            </a:r>
            <a:r>
              <a:rPr b="0" i="0" lang="fr-FR" sz="1800" u="none" cap="none" strike="noStrike">
                <a:solidFill>
                  <a:schemeClr val="dk1"/>
                </a:solidFill>
                <a:latin typeface="Calibri"/>
                <a:ea typeface="Calibri"/>
                <a:cs typeface="Calibri"/>
                <a:sym typeface="Calibri"/>
              </a:rPr>
              <a:t> » apparaît, cliquez sur « </a:t>
            </a:r>
            <a:r>
              <a:rPr b="1" i="0" lang="fr-FR" sz="1800" u="none" cap="none" strike="noStrike">
                <a:solidFill>
                  <a:schemeClr val="dk1"/>
                </a:solidFill>
                <a:latin typeface="Calibri"/>
                <a:ea typeface="Calibri"/>
                <a:cs typeface="Calibri"/>
                <a:sym typeface="Calibri"/>
              </a:rPr>
              <a:t>Fermer</a:t>
            </a:r>
            <a:r>
              <a:rPr b="0" i="0" lang="fr-FR" sz="1800" u="none" cap="none" strike="noStrike">
                <a:solidFill>
                  <a:schemeClr val="dk1"/>
                </a:solidFill>
                <a:latin typeface="Calibri"/>
                <a:ea typeface="Calibri"/>
                <a:cs typeface="Calibri"/>
                <a:sym typeface="Calibri"/>
              </a:rPr>
              <a:t> ».</a:t>
            </a:r>
            <a:endParaRPr b="0" i="0" sz="1600" u="none" cap="none" strike="noStrike">
              <a:solidFill>
                <a:schemeClr val="dk1"/>
              </a:solidFill>
              <a:latin typeface="Calibri"/>
              <a:ea typeface="Calibri"/>
              <a:cs typeface="Calibri"/>
              <a:sym typeface="Calibri"/>
            </a:endParaRPr>
          </a:p>
        </p:txBody>
      </p:sp>
      <p:pic>
        <p:nvPicPr>
          <p:cNvPr id="281" name="Google Shape;281;p41"/>
          <p:cNvPicPr preferRelativeResize="0"/>
          <p:nvPr/>
        </p:nvPicPr>
        <p:blipFill rotWithShape="1">
          <a:blip r:embed="rId3">
            <a:alphaModFix/>
          </a:blip>
          <a:srcRect b="0" l="0" r="0" t="0"/>
          <a:stretch/>
        </p:blipFill>
        <p:spPr>
          <a:xfrm>
            <a:off x="1463331" y="1770247"/>
            <a:ext cx="7203591" cy="5050587"/>
          </a:xfrm>
          <a:prstGeom prst="rect">
            <a:avLst/>
          </a:prstGeom>
          <a:noFill/>
          <a:ln>
            <a:noFill/>
          </a:ln>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2"/>
          <p:cNvSpPr/>
          <p:nvPr/>
        </p:nvSpPr>
        <p:spPr>
          <a:xfrm>
            <a:off x="106018" y="97734"/>
            <a:ext cx="8945217" cy="1890261"/>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b="0" i="0" lang="fr-FR" sz="1800" u="none" cap="none" strike="noStrike">
                <a:solidFill>
                  <a:schemeClr val="dk1"/>
                </a:solidFill>
                <a:latin typeface="Calibri"/>
                <a:ea typeface="Calibri"/>
                <a:cs typeface="Calibri"/>
                <a:sym typeface="Calibri"/>
              </a:rPr>
              <a:t>Promouvoir en tant que contrôleur de domaine</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b="0" i="0" lang="fr-FR" sz="1800" u="none" cap="none" strike="noStrike">
                <a:solidFill>
                  <a:schemeClr val="dk1"/>
                </a:solidFill>
                <a:latin typeface="Calibri"/>
                <a:ea typeface="Calibri"/>
                <a:cs typeface="Calibri"/>
                <a:sym typeface="Calibri"/>
              </a:rPr>
              <a:t>Afin de promouvoir notre serveur en tant que contrôleur de domaine, on effectue la commande « </a:t>
            </a:r>
            <a:r>
              <a:rPr b="1" i="0" lang="fr-FR" sz="1800" u="none" cap="none" strike="noStrike">
                <a:solidFill>
                  <a:schemeClr val="dk1"/>
                </a:solidFill>
                <a:latin typeface="Calibri"/>
                <a:ea typeface="Calibri"/>
                <a:cs typeface="Calibri"/>
                <a:sym typeface="Calibri"/>
              </a:rPr>
              <a:t>dcpromo</a:t>
            </a:r>
            <a:r>
              <a:rPr b="0" i="0" lang="fr-FR" sz="1800" u="none" cap="none" strike="noStrike">
                <a:solidFill>
                  <a:schemeClr val="dk1"/>
                </a:solidFill>
                <a:latin typeface="Calibri"/>
                <a:ea typeface="Calibri"/>
                <a:cs typeface="Calibri"/>
                <a:sym typeface="Calibri"/>
              </a:rPr>
              <a:t> » qui permet d’exécuter l’assistant de promotion de serveur.</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b="0" i="0" lang="fr-FR" sz="1800" u="none" cap="none" strike="noStrike">
                <a:solidFill>
                  <a:schemeClr val="dk1"/>
                </a:solidFill>
                <a:latin typeface="Calibri"/>
                <a:ea typeface="Calibri"/>
                <a:cs typeface="Calibri"/>
                <a:sym typeface="Calibri"/>
              </a:rPr>
              <a:t>Avec Windows Server 2012, dans le Gestionnaire de serveur un symbole d’avertissement apparaît auprès du Centre de maintenance, cliquez dessus et vous verrez apparaître ceci :</a:t>
            </a:r>
            <a:endParaRPr b="0" i="0" sz="1600" u="none" cap="none" strike="noStrike">
              <a:solidFill>
                <a:schemeClr val="dk1"/>
              </a:solidFill>
              <a:latin typeface="Calibri"/>
              <a:ea typeface="Calibri"/>
              <a:cs typeface="Calibri"/>
              <a:sym typeface="Calibri"/>
            </a:endParaRPr>
          </a:p>
        </p:txBody>
      </p:sp>
      <p:pic>
        <p:nvPicPr>
          <p:cNvPr descr="C:\Users\DRA\Pictures\W2012\ad4.PNG" id="287" name="Google Shape;287;p42"/>
          <p:cNvPicPr preferRelativeResize="0"/>
          <p:nvPr/>
        </p:nvPicPr>
        <p:blipFill rotWithShape="1">
          <a:blip r:embed="rId3">
            <a:alphaModFix/>
          </a:blip>
          <a:srcRect b="0" l="0" r="0" t="0"/>
          <a:stretch/>
        </p:blipFill>
        <p:spPr>
          <a:xfrm>
            <a:off x="3101008" y="2146851"/>
            <a:ext cx="4184719" cy="4187687"/>
          </a:xfrm>
          <a:prstGeom prst="rect">
            <a:avLst/>
          </a:prstGeom>
          <a:noFill/>
          <a:ln>
            <a:noFill/>
          </a:ln>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3"/>
          <p:cNvSpPr/>
          <p:nvPr/>
        </p:nvSpPr>
        <p:spPr>
          <a:xfrm>
            <a:off x="596348" y="528935"/>
            <a:ext cx="8786191"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fr-FR" sz="1800" u="none" cap="none" strike="noStrike">
                <a:solidFill>
                  <a:schemeClr val="dk1"/>
                </a:solidFill>
                <a:latin typeface="Calibri"/>
                <a:ea typeface="Calibri"/>
                <a:cs typeface="Calibri"/>
                <a:sym typeface="Calibri"/>
              </a:rPr>
              <a:t>Il vous suffit de cliquer sur « </a:t>
            </a:r>
            <a:r>
              <a:rPr b="1" i="0" lang="fr-FR" sz="1800" u="none" cap="none" strike="noStrike">
                <a:solidFill>
                  <a:schemeClr val="dk1"/>
                </a:solidFill>
                <a:latin typeface="Calibri"/>
                <a:ea typeface="Calibri"/>
                <a:cs typeface="Calibri"/>
                <a:sym typeface="Calibri"/>
              </a:rPr>
              <a:t>Promouvoir ce serveur en contrôleur de domaine</a:t>
            </a:r>
            <a:r>
              <a:rPr b="0" i="0" lang="fr-FR" sz="1800" u="none" cap="none" strike="noStrike">
                <a:solidFill>
                  <a:schemeClr val="dk1"/>
                </a:solidFill>
                <a:latin typeface="Calibri"/>
                <a:ea typeface="Calibri"/>
                <a:cs typeface="Calibri"/>
                <a:sym typeface="Calibri"/>
              </a:rPr>
              <a:t> » pour exécuter l’équivalent d’un DCPROMO sous Windows Server 2012 R2.</a:t>
            </a:r>
            <a:endParaRPr sz="1800">
              <a:solidFill>
                <a:schemeClr val="dk1"/>
              </a:solidFill>
              <a:latin typeface="Trebuchet MS"/>
              <a:ea typeface="Trebuchet MS"/>
              <a:cs typeface="Trebuchet MS"/>
              <a:sym typeface="Trebuchet MS"/>
            </a:endParaRPr>
          </a:p>
        </p:txBody>
      </p:sp>
      <p:pic>
        <p:nvPicPr>
          <p:cNvPr id="293" name="Google Shape;293;p43"/>
          <p:cNvPicPr preferRelativeResize="0"/>
          <p:nvPr/>
        </p:nvPicPr>
        <p:blipFill rotWithShape="1">
          <a:blip r:embed="rId3">
            <a:alphaModFix/>
          </a:blip>
          <a:srcRect b="0" l="0" r="0" t="0"/>
          <a:stretch/>
        </p:blipFill>
        <p:spPr>
          <a:xfrm>
            <a:off x="1027153" y="1539640"/>
            <a:ext cx="7924579" cy="4490099"/>
          </a:xfrm>
          <a:prstGeom prst="rect">
            <a:avLst/>
          </a:prstGeom>
          <a:noFill/>
          <a:ln>
            <a:noFill/>
          </a:ln>
        </p:spPr>
      </p:pic>
    </p:spTree>
  </p:cSld>
  <p:clrMapOvr>
    <a:masterClrMapping/>
  </p:clrMapOvr>
  <p:transition spd="slow">
    <p:fade thruBlk="1"/>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p:nvPr/>
        </p:nvSpPr>
        <p:spPr>
          <a:xfrm>
            <a:off x="649357" y="2150356"/>
            <a:ext cx="8560904" cy="1787669"/>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fr-FR" sz="1800">
                <a:solidFill>
                  <a:schemeClr val="dk1"/>
                </a:solidFill>
                <a:latin typeface="Calibri"/>
                <a:ea typeface="Calibri"/>
                <a:cs typeface="Calibri"/>
                <a:sym typeface="Calibri"/>
              </a:rPr>
              <a:t>L’Assistance configuration des services de domaine Active Directory démarre.</a:t>
            </a:r>
            <a:endParaRPr sz="1600">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Vu que nous souhaitons créer un nouveau domaine appelé « </a:t>
            </a:r>
            <a:r>
              <a:rPr b="1" lang="fr-FR" sz="1800">
                <a:solidFill>
                  <a:schemeClr val="dk1"/>
                </a:solidFill>
                <a:latin typeface="Calibri"/>
                <a:ea typeface="Calibri"/>
                <a:cs typeface="Calibri"/>
                <a:sym typeface="Calibri"/>
              </a:rPr>
              <a:t>Ada.local</a:t>
            </a:r>
            <a:r>
              <a:rPr lang="fr-FR" sz="1800">
                <a:solidFill>
                  <a:schemeClr val="dk1"/>
                </a:solidFill>
                <a:latin typeface="Calibri"/>
                <a:ea typeface="Calibri"/>
                <a:cs typeface="Calibri"/>
                <a:sym typeface="Calibri"/>
              </a:rPr>
              <a:t> », nous devons déployer une nouvelle forêt (une forêt étant un ensemble de domaines, ce qui permet d’ajouter d’autres domaines dans cette forêt par la suite). Cochez «</a:t>
            </a:r>
            <a:r>
              <a:rPr b="1" lang="fr-FR" sz="1800">
                <a:solidFill>
                  <a:schemeClr val="dk1"/>
                </a:solidFill>
                <a:latin typeface="Calibri"/>
                <a:ea typeface="Calibri"/>
                <a:cs typeface="Calibri"/>
                <a:sym typeface="Calibri"/>
              </a:rPr>
              <a:t> Ajouter une nouvelle forêt</a:t>
            </a:r>
            <a:r>
              <a:rPr lang="fr-FR" sz="1800">
                <a:solidFill>
                  <a:schemeClr val="dk1"/>
                </a:solidFill>
                <a:latin typeface="Calibri"/>
                <a:ea typeface="Calibri"/>
                <a:cs typeface="Calibri"/>
                <a:sym typeface="Calibri"/>
              </a:rPr>
              <a:t> » et indiquez «</a:t>
            </a:r>
            <a:r>
              <a:rPr b="1" lang="fr-FR" sz="1800">
                <a:solidFill>
                  <a:schemeClr val="dk1"/>
                </a:solidFill>
                <a:latin typeface="Calibri"/>
                <a:ea typeface="Calibri"/>
                <a:cs typeface="Calibri"/>
                <a:sym typeface="Calibri"/>
              </a:rPr>
              <a:t>Ada.local</a:t>
            </a:r>
            <a:r>
              <a:rPr lang="fr-FR" sz="1800">
                <a:solidFill>
                  <a:schemeClr val="dk1"/>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45"/>
          <p:cNvPicPr preferRelativeResize="0"/>
          <p:nvPr/>
        </p:nvPicPr>
        <p:blipFill rotWithShape="1">
          <a:blip r:embed="rId3">
            <a:alphaModFix/>
          </a:blip>
          <a:srcRect b="0" l="0" r="0" t="0"/>
          <a:stretch/>
        </p:blipFill>
        <p:spPr>
          <a:xfrm>
            <a:off x="1312586" y="627408"/>
            <a:ext cx="7419975" cy="5391150"/>
          </a:xfrm>
          <a:prstGeom prst="rect">
            <a:avLst/>
          </a:prstGeom>
          <a:noFill/>
          <a:ln>
            <a:noFill/>
          </a:ln>
        </p:spPr>
      </p:pic>
    </p:spTree>
  </p:cSld>
  <p:clrMapOvr>
    <a:masterClrMapping/>
  </p:clrMapOvr>
  <p:transition spd="slow">
    <p:fade thruBlk="1"/>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p:nvPr/>
        </p:nvSpPr>
        <p:spPr>
          <a:xfrm>
            <a:off x="463827" y="629259"/>
            <a:ext cx="8680174" cy="4643835"/>
          </a:xfrm>
          <a:prstGeom prst="rect">
            <a:avLst/>
          </a:prstGeom>
          <a:noFill/>
          <a:ln>
            <a:noFill/>
          </a:ln>
        </p:spPr>
        <p:txBody>
          <a:bodyPr anchorCtr="0" anchor="t" bIns="45700" lIns="91425" spcFirstLastPara="1" rIns="91425" wrap="square" tIns="45700">
            <a:noAutofit/>
          </a:bodyPr>
          <a:lstStyle/>
          <a:p>
            <a:pPr indent="-285750" lvl="0" marL="285750" marR="0" rtl="0" algn="l">
              <a:lnSpc>
                <a:spcPct val="115000"/>
              </a:lnSpc>
              <a:spcBef>
                <a:spcPts val="0"/>
              </a:spcBef>
              <a:spcAft>
                <a:spcPts val="0"/>
              </a:spcAft>
              <a:buClr>
                <a:schemeClr val="dk1"/>
              </a:buClr>
              <a:buSzPts val="1800"/>
              <a:buFont typeface="Noto Sans Symbols"/>
              <a:buChar char="❑"/>
            </a:pPr>
            <a:r>
              <a:rPr lang="fr-FR" sz="1800">
                <a:solidFill>
                  <a:schemeClr val="dk1"/>
                </a:solidFill>
                <a:latin typeface="Calibri"/>
                <a:ea typeface="Calibri"/>
                <a:cs typeface="Calibri"/>
                <a:sym typeface="Calibri"/>
              </a:rPr>
              <a:t> Un domaine créé à partir d’un serveur Windows Server 2012 r2 peut fonctionner uniquement sur un niveau fonctionnel « </a:t>
            </a:r>
            <a:r>
              <a:rPr b="1" lang="fr-FR" sz="1800">
                <a:solidFill>
                  <a:schemeClr val="dk1"/>
                </a:solidFill>
                <a:latin typeface="Calibri"/>
                <a:ea typeface="Calibri"/>
                <a:cs typeface="Calibri"/>
                <a:sym typeface="Calibri"/>
              </a:rPr>
              <a:t>Windows Server 2012 r2</a:t>
            </a:r>
            <a:r>
              <a:rPr lang="fr-FR" sz="1800">
                <a:solidFill>
                  <a:schemeClr val="dk1"/>
                </a:solidFill>
                <a:latin typeface="Calibri"/>
                <a:ea typeface="Calibri"/>
                <a:cs typeface="Calibri"/>
                <a:sym typeface="Calibri"/>
              </a:rPr>
              <a:t> ». Cependant, le niveau fonctionnel de la forêt quant à lui peut aller de « </a:t>
            </a:r>
            <a:r>
              <a:rPr b="1" lang="fr-FR" sz="1800">
                <a:solidFill>
                  <a:schemeClr val="dk1"/>
                </a:solidFill>
                <a:latin typeface="Calibri"/>
                <a:ea typeface="Calibri"/>
                <a:cs typeface="Calibri"/>
                <a:sym typeface="Calibri"/>
              </a:rPr>
              <a:t>Windows Server 2003</a:t>
            </a:r>
            <a:r>
              <a:rPr lang="fr-FR" sz="1800">
                <a:solidFill>
                  <a:schemeClr val="dk1"/>
                </a:solidFill>
                <a:latin typeface="Calibri"/>
                <a:ea typeface="Calibri"/>
                <a:cs typeface="Calibri"/>
                <a:sym typeface="Calibri"/>
              </a:rPr>
              <a:t> » à « </a:t>
            </a:r>
            <a:r>
              <a:rPr b="1" lang="fr-FR" sz="1800">
                <a:solidFill>
                  <a:schemeClr val="dk1"/>
                </a:solidFill>
                <a:latin typeface="Calibri"/>
                <a:ea typeface="Calibri"/>
                <a:cs typeface="Calibri"/>
                <a:sym typeface="Calibri"/>
              </a:rPr>
              <a:t>Windows Server 2012 r2</a:t>
            </a:r>
            <a:r>
              <a:rPr lang="fr-FR" sz="1800">
                <a:solidFill>
                  <a:schemeClr val="dk1"/>
                </a:solidFill>
                <a:latin typeface="Calibri"/>
                <a:ea typeface="Calibri"/>
                <a:cs typeface="Calibri"/>
                <a:sym typeface="Calibri"/>
              </a:rPr>
              <a:t> ».</a:t>
            </a:r>
            <a:endParaRPr sz="1600">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Pour information, nous avons la possibilité d’augmenter le niveau fonctionnel, mais en aucun cas le diminuer.</a:t>
            </a:r>
            <a:endParaRPr sz="1600">
              <a:solidFill>
                <a:schemeClr val="dk1"/>
              </a:solidFill>
              <a:latin typeface="Calibri"/>
              <a:ea typeface="Calibri"/>
              <a:cs typeface="Calibri"/>
              <a:sym typeface="Calibri"/>
            </a:endParaRPr>
          </a:p>
          <a:p>
            <a:pPr indent="-285750" lvl="0" marL="285750" marR="0" rtl="0" algn="l">
              <a:lnSpc>
                <a:spcPct val="115000"/>
              </a:lnSpc>
              <a:spcBef>
                <a:spcPts val="800"/>
              </a:spcBef>
              <a:spcAft>
                <a:spcPts val="0"/>
              </a:spcAft>
              <a:buClr>
                <a:schemeClr val="dk1"/>
              </a:buClr>
              <a:buSzPts val="1800"/>
              <a:buFont typeface="Noto Sans Symbols"/>
              <a:buChar char="❑"/>
            </a:pPr>
            <a:r>
              <a:rPr lang="fr-FR" sz="1800">
                <a:solidFill>
                  <a:schemeClr val="dk1"/>
                </a:solidFill>
                <a:latin typeface="Calibri"/>
                <a:ea typeface="Calibri"/>
                <a:cs typeface="Calibri"/>
                <a:sym typeface="Calibri"/>
              </a:rPr>
              <a:t>Nous avons sélectionné « </a:t>
            </a:r>
            <a:r>
              <a:rPr b="1" lang="fr-FR" sz="1800">
                <a:solidFill>
                  <a:schemeClr val="dk1"/>
                </a:solidFill>
                <a:latin typeface="Calibri"/>
                <a:ea typeface="Calibri"/>
                <a:cs typeface="Calibri"/>
                <a:sym typeface="Calibri"/>
              </a:rPr>
              <a:t>Windows Server 2012 r2</a:t>
            </a:r>
            <a:r>
              <a:rPr lang="fr-FR" sz="1800">
                <a:solidFill>
                  <a:schemeClr val="dk1"/>
                </a:solidFill>
                <a:latin typeface="Calibri"/>
                <a:ea typeface="Calibri"/>
                <a:cs typeface="Calibri"/>
                <a:sym typeface="Calibri"/>
              </a:rPr>
              <a:t> » pour les deux niveaux fonctionnels. Laissons cocher « Serveur DNS » puisque ce serveur servira également de serveur DNS sur le domaine.</a:t>
            </a:r>
            <a:endParaRPr sz="1600">
              <a:solidFill>
                <a:schemeClr val="dk1"/>
              </a:solidFill>
              <a:latin typeface="Calibri"/>
              <a:ea typeface="Calibri"/>
              <a:cs typeface="Calibri"/>
              <a:sym typeface="Calibri"/>
            </a:endParaRPr>
          </a:p>
          <a:p>
            <a:pPr indent="-285750" lvl="0" marL="285750" marR="0" rtl="0" algn="l">
              <a:lnSpc>
                <a:spcPct val="115000"/>
              </a:lnSpc>
              <a:spcBef>
                <a:spcPts val="800"/>
              </a:spcBef>
              <a:spcAft>
                <a:spcPts val="0"/>
              </a:spcAft>
              <a:buClr>
                <a:schemeClr val="dk1"/>
              </a:buClr>
              <a:buSzPts val="1800"/>
              <a:buFont typeface="Noto Sans Symbols"/>
              <a:buChar char="❑"/>
            </a:pPr>
            <a:r>
              <a:rPr lang="fr-FR" sz="1800">
                <a:solidFill>
                  <a:schemeClr val="dk1"/>
                </a:solidFill>
                <a:latin typeface="Calibri"/>
                <a:ea typeface="Calibri"/>
                <a:cs typeface="Calibri"/>
                <a:sym typeface="Calibri"/>
              </a:rPr>
              <a:t>Indiquez un mot de passe de restauration des services d’annuaires, bien que cela soit tentant, ne définissez pas le même mot de passe que celui du compte Administrateur actuel pour des raisons de sécurité.</a:t>
            </a:r>
            <a:endParaRPr sz="1600">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 Une fois que tout est renseigné, cliquez sur « </a:t>
            </a:r>
            <a:r>
              <a:rPr b="1" lang="fr-FR" sz="1800">
                <a:solidFill>
                  <a:schemeClr val="dk1"/>
                </a:solidFill>
                <a:latin typeface="Calibri"/>
                <a:ea typeface="Calibri"/>
                <a:cs typeface="Calibri"/>
                <a:sym typeface="Calibri"/>
              </a:rPr>
              <a:t>Suivant</a:t>
            </a:r>
            <a:r>
              <a:rPr lang="fr-FR" sz="1800">
                <a:solidFill>
                  <a:schemeClr val="dk1"/>
                </a:solidFill>
                <a:latin typeface="Calibri"/>
                <a:ea typeface="Calibri"/>
                <a:cs typeface="Calibri"/>
                <a:sym typeface="Calibri"/>
              </a:rPr>
              <a:t> ».</a:t>
            </a:r>
            <a:endParaRPr sz="1600">
              <a:solidFill>
                <a:schemeClr val="dk1"/>
              </a:solidFill>
              <a:latin typeface="Calibri"/>
              <a:ea typeface="Calibri"/>
              <a:cs typeface="Calibri"/>
              <a:sym typeface="Calibri"/>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10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47"/>
          <p:cNvPicPr preferRelativeResize="0"/>
          <p:nvPr/>
        </p:nvPicPr>
        <p:blipFill rotWithShape="1">
          <a:blip r:embed="rId3">
            <a:alphaModFix/>
          </a:blip>
          <a:srcRect b="0" l="0" r="0" t="0"/>
          <a:stretch/>
        </p:blipFill>
        <p:spPr>
          <a:xfrm>
            <a:off x="902804" y="552656"/>
            <a:ext cx="8227944" cy="5990707"/>
          </a:xfrm>
          <a:prstGeom prst="rect">
            <a:avLst/>
          </a:prstGeom>
          <a:noFill/>
          <a:ln>
            <a:noFill/>
          </a:ln>
        </p:spPr>
      </p:pic>
    </p:spTree>
  </p:cSld>
  <p:clrMapOvr>
    <a:masterClrMapping/>
  </p:clrMapOvr>
  <p:transition spd="slow">
    <p:fade thruBlk="1"/>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48"/>
          <p:cNvPicPr preferRelativeResize="0"/>
          <p:nvPr/>
        </p:nvPicPr>
        <p:blipFill rotWithShape="1">
          <a:blip r:embed="rId3">
            <a:alphaModFix/>
          </a:blip>
          <a:srcRect b="0" l="0" r="0" t="0"/>
          <a:stretch/>
        </p:blipFill>
        <p:spPr>
          <a:xfrm>
            <a:off x="1255850" y="657639"/>
            <a:ext cx="7400925" cy="5410200"/>
          </a:xfrm>
          <a:prstGeom prst="rect">
            <a:avLst/>
          </a:prstGeom>
          <a:noFill/>
          <a:ln>
            <a:noFill/>
          </a:ln>
        </p:spPr>
      </p:pic>
    </p:spTree>
  </p:cSld>
  <p:clrMapOvr>
    <a:masterClrMapping/>
  </p:clrMapOvr>
  <p:transition spd="slow">
    <p:fade thruBlk="1"/>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p:nvPr/>
        </p:nvSpPr>
        <p:spPr>
          <a:xfrm>
            <a:off x="278296" y="503583"/>
            <a:ext cx="9011478" cy="3164456"/>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fr-FR" sz="1800">
                <a:solidFill>
                  <a:schemeClr val="dk1"/>
                </a:solidFill>
                <a:latin typeface="Calibri"/>
                <a:ea typeface="Calibri"/>
                <a:cs typeface="Calibri"/>
                <a:sym typeface="Calibri"/>
              </a:rPr>
              <a:t>En ce qui concerne les options DNS, faites suivant puisqu’il n’y a aucune modification à effectuer. </a:t>
            </a:r>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Ensuite, patientez pendant l’affichage du nom NETBIOS de votre domaine et modifiez le si nécessaire, le nom NETBIOS permet notamment d’ouvrir une session et de s’authentifier sur le domaine. Exemple, ouvrir une session « </a:t>
            </a:r>
            <a:r>
              <a:rPr b="1" lang="fr-FR" sz="1800">
                <a:solidFill>
                  <a:schemeClr val="dk1"/>
                </a:solidFill>
                <a:latin typeface="Calibri"/>
                <a:ea typeface="Calibri"/>
                <a:cs typeface="Calibri"/>
                <a:sym typeface="Calibri"/>
              </a:rPr>
              <a:t>TAPILY</a:t>
            </a:r>
            <a:r>
              <a:rPr lang="fr-FR" sz="1800">
                <a:solidFill>
                  <a:schemeClr val="dk1"/>
                </a:solidFill>
                <a:latin typeface="Calibri"/>
                <a:ea typeface="Calibri"/>
                <a:cs typeface="Calibri"/>
                <a:sym typeface="Calibri"/>
              </a:rPr>
              <a:t> » sur le domaine «</a:t>
            </a:r>
            <a:r>
              <a:rPr b="1" lang="fr-FR" sz="1800">
                <a:solidFill>
                  <a:schemeClr val="dk1"/>
                </a:solidFill>
                <a:latin typeface="Calibri"/>
                <a:ea typeface="Calibri"/>
                <a:cs typeface="Calibri"/>
                <a:sym typeface="Calibri"/>
              </a:rPr>
              <a:t>Ada.local</a:t>
            </a:r>
            <a:r>
              <a:rPr lang="fr-FR" sz="1800">
                <a:solidFill>
                  <a:schemeClr val="dk1"/>
                </a:solidFill>
                <a:latin typeface="Calibri"/>
                <a:ea typeface="Calibri"/>
                <a:cs typeface="Calibri"/>
                <a:sym typeface="Calibri"/>
              </a:rPr>
              <a:t>» ayant pour nom NETBIOS « </a:t>
            </a:r>
            <a:r>
              <a:rPr b="1" lang="fr-FR" sz="1800">
                <a:solidFill>
                  <a:schemeClr val="dk1"/>
                </a:solidFill>
                <a:latin typeface="Calibri"/>
                <a:ea typeface="Calibri"/>
                <a:cs typeface="Calibri"/>
                <a:sym typeface="Calibri"/>
              </a:rPr>
              <a:t>Ada</a:t>
            </a:r>
            <a:r>
              <a:rPr lang="fr-FR" sz="1800">
                <a:solidFill>
                  <a:schemeClr val="dk1"/>
                </a:solidFill>
                <a:latin typeface="Calibri"/>
                <a:ea typeface="Calibri"/>
                <a:cs typeface="Calibri"/>
                <a:sym typeface="Calibri"/>
              </a:rPr>
              <a:t> » : «</a:t>
            </a:r>
            <a:r>
              <a:rPr b="1" lang="fr-FR" sz="1800">
                <a:solidFill>
                  <a:schemeClr val="dk1"/>
                </a:solidFill>
                <a:latin typeface="Calibri"/>
                <a:ea typeface="Calibri"/>
                <a:cs typeface="Calibri"/>
                <a:sym typeface="Calibri"/>
              </a:rPr>
              <a:t> Ada\Tapily</a:t>
            </a:r>
            <a:r>
              <a:rPr lang="fr-FR" sz="1800">
                <a:solidFill>
                  <a:schemeClr val="dk1"/>
                </a:solidFill>
                <a:latin typeface="Calibri"/>
                <a:ea typeface="Calibri"/>
                <a:cs typeface="Calibri"/>
                <a:sym typeface="Calibri"/>
              </a:rPr>
              <a:t> ».</a:t>
            </a:r>
            <a:endParaRPr sz="1600">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Lorsqu’on vous demande de choisir les différents chemins d’accès pour le dossier SYSVOL, la base de données et les fichiers journaux, je vous conseille de laisser les paramètres par défaut afin de rester standard et d’être sûr de pouvoir les retrouver facilement.</a:t>
            </a:r>
            <a:endParaRPr sz="1600">
              <a:solidFill>
                <a:schemeClr val="dk1"/>
              </a:solidFill>
              <a:latin typeface="Calibri"/>
              <a:ea typeface="Calibri"/>
              <a:cs typeface="Calibri"/>
              <a:sym typeface="Calibri"/>
            </a:endParaRPr>
          </a:p>
        </p:txBody>
      </p:sp>
      <p:sp>
        <p:nvSpPr>
          <p:cNvPr id="324" name="Google Shape;324;p49"/>
          <p:cNvSpPr/>
          <p:nvPr/>
        </p:nvSpPr>
        <p:spPr>
          <a:xfrm>
            <a:off x="278296" y="3951436"/>
            <a:ext cx="8097078" cy="1366528"/>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fr-FR" sz="1800">
                <a:solidFill>
                  <a:schemeClr val="dk1"/>
                </a:solidFill>
                <a:latin typeface="Calibri"/>
                <a:ea typeface="Calibri"/>
                <a:cs typeface="Calibri"/>
                <a:sym typeface="Calibri"/>
              </a:rPr>
              <a:t>Lorsqu’on vous demande de choisir les différents chemins d’accès pour le dossier SYSVOL, la base de données et les fichiers journaux, il est conseillé de laisser les paramètres par défaut afin de rester standard et d’être sûr de pouvoir les retrouver facilement.</a:t>
            </a:r>
            <a:endParaRPr sz="1600">
              <a:solidFill>
                <a:schemeClr val="dk1"/>
              </a:solidFill>
              <a:latin typeface="Calibri"/>
              <a:ea typeface="Calibri"/>
              <a:cs typeface="Calibri"/>
              <a:sym typeface="Calibri"/>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1000"/>
                                        <p:tgtEl>
                                          <p:spTgt spid="3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p50"/>
          <p:cNvPicPr preferRelativeResize="0"/>
          <p:nvPr/>
        </p:nvPicPr>
        <p:blipFill rotWithShape="1">
          <a:blip r:embed="rId3">
            <a:alphaModFix/>
          </a:blip>
          <a:srcRect b="0" l="0" r="0" t="0"/>
          <a:stretch/>
        </p:blipFill>
        <p:spPr>
          <a:xfrm>
            <a:off x="954156" y="362364"/>
            <a:ext cx="8311184" cy="6077688"/>
          </a:xfrm>
          <a:prstGeom prst="rect">
            <a:avLst/>
          </a:prstGeom>
          <a:noFill/>
          <a:ln>
            <a:noFill/>
          </a:ln>
        </p:spPr>
      </p:pic>
    </p:spTree>
  </p:cSld>
  <p:clrMapOvr>
    <a:masterClrMapping/>
  </p:clrMapOvr>
  <p:transition spd="slow">
    <p:fade thruBlk="1"/>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p51"/>
          <p:cNvPicPr preferRelativeResize="0"/>
          <p:nvPr/>
        </p:nvPicPr>
        <p:blipFill rotWithShape="1">
          <a:blip r:embed="rId3">
            <a:alphaModFix/>
          </a:blip>
          <a:srcRect b="0" l="0" r="0" t="0"/>
          <a:stretch/>
        </p:blipFill>
        <p:spPr>
          <a:xfrm>
            <a:off x="866775" y="418479"/>
            <a:ext cx="7410450" cy="5305425"/>
          </a:xfrm>
          <a:prstGeom prst="rect">
            <a:avLst/>
          </a:prstGeom>
          <a:noFill/>
          <a:ln>
            <a:noFill/>
          </a:ln>
        </p:spPr>
      </p:pic>
    </p:spTree>
  </p:cSld>
  <p:clrMapOvr>
    <a:masterClrMapping/>
  </p:clrMapOvr>
  <p:transition spd="slow">
    <p:fade thruBlk="1"/>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2"/>
          <p:cNvSpPr/>
          <p:nvPr/>
        </p:nvSpPr>
        <p:spPr>
          <a:xfrm>
            <a:off x="119269" y="414321"/>
            <a:ext cx="9276522" cy="146912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fr-FR" sz="1800">
                <a:solidFill>
                  <a:schemeClr val="dk1"/>
                </a:solidFill>
                <a:latin typeface="Calibri"/>
                <a:ea typeface="Calibri"/>
                <a:cs typeface="Calibri"/>
                <a:sym typeface="Calibri"/>
              </a:rPr>
              <a:t>Cliquez sur « </a:t>
            </a:r>
            <a:r>
              <a:rPr b="1" lang="fr-FR" sz="1800">
                <a:solidFill>
                  <a:schemeClr val="dk1"/>
                </a:solidFill>
                <a:latin typeface="Calibri"/>
                <a:ea typeface="Calibri"/>
                <a:cs typeface="Calibri"/>
                <a:sym typeface="Calibri"/>
              </a:rPr>
              <a:t>Suivant</a:t>
            </a:r>
            <a:r>
              <a:rPr lang="fr-FR" sz="1800">
                <a:solidFill>
                  <a:schemeClr val="dk1"/>
                </a:solidFill>
                <a:latin typeface="Calibri"/>
                <a:ea typeface="Calibri"/>
                <a:cs typeface="Calibri"/>
                <a:sym typeface="Calibri"/>
              </a:rPr>
              <a:t> », puis examinez une dernière fois les options que vous avez définies dans la page récapitulative. Une fois que le tour est fait, cliquez une seconde fois sur « </a:t>
            </a:r>
            <a:r>
              <a:rPr b="1" lang="fr-FR" sz="1800">
                <a:solidFill>
                  <a:schemeClr val="dk1"/>
                </a:solidFill>
                <a:latin typeface="Calibri"/>
                <a:ea typeface="Calibri"/>
                <a:cs typeface="Calibri"/>
                <a:sym typeface="Calibri"/>
              </a:rPr>
              <a:t>Suivant</a:t>
            </a:r>
            <a:r>
              <a:rPr lang="fr-FR" sz="1800">
                <a:solidFill>
                  <a:schemeClr val="dk1"/>
                </a:solidFill>
                <a:latin typeface="Calibri"/>
                <a:ea typeface="Calibri"/>
                <a:cs typeface="Calibri"/>
                <a:sym typeface="Calibri"/>
              </a:rPr>
              <a:t> ».</a:t>
            </a:r>
            <a:endParaRPr sz="1600">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Enfin, vérifiez qu’il n’y a pas d’erreur(s) critique(s) et cliquez sur « </a:t>
            </a:r>
            <a:r>
              <a:rPr b="1" lang="fr-FR" sz="1800">
                <a:solidFill>
                  <a:schemeClr val="dk1"/>
                </a:solidFill>
                <a:latin typeface="Calibri"/>
                <a:ea typeface="Calibri"/>
                <a:cs typeface="Calibri"/>
                <a:sym typeface="Calibri"/>
              </a:rPr>
              <a:t>Installer</a:t>
            </a:r>
            <a:r>
              <a:rPr lang="fr-FR" sz="1800">
                <a:solidFill>
                  <a:schemeClr val="dk1"/>
                </a:solidFill>
                <a:latin typeface="Calibri"/>
                <a:ea typeface="Calibri"/>
                <a:cs typeface="Calibri"/>
                <a:sym typeface="Calibri"/>
              </a:rPr>
              <a:t> ». Le serveur redémarrera automatiquement une fois le déploiement terminé.</a:t>
            </a:r>
            <a:endParaRPr sz="1600">
              <a:solidFill>
                <a:schemeClr val="dk1"/>
              </a:solidFill>
              <a:latin typeface="Calibri"/>
              <a:ea typeface="Calibri"/>
              <a:cs typeface="Calibri"/>
              <a:sym typeface="Calibri"/>
            </a:endParaRPr>
          </a:p>
        </p:txBody>
      </p:sp>
      <p:pic>
        <p:nvPicPr>
          <p:cNvPr id="340" name="Google Shape;340;p52"/>
          <p:cNvPicPr preferRelativeResize="0"/>
          <p:nvPr/>
        </p:nvPicPr>
        <p:blipFill rotWithShape="1">
          <a:blip r:embed="rId3">
            <a:alphaModFix/>
          </a:blip>
          <a:srcRect b="0" l="0" r="0" t="0"/>
          <a:stretch/>
        </p:blipFill>
        <p:spPr>
          <a:xfrm>
            <a:off x="1159359" y="1883441"/>
            <a:ext cx="6619668" cy="4843034"/>
          </a:xfrm>
          <a:prstGeom prst="rect">
            <a:avLst/>
          </a:prstGeom>
          <a:noFill/>
          <a:ln>
            <a:noFill/>
          </a:ln>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descr="C:\Users\DRA\Pictures\W2012\ad9.PNG" id="345" name="Google Shape;345;p53"/>
          <p:cNvPicPr preferRelativeResize="0"/>
          <p:nvPr/>
        </p:nvPicPr>
        <p:blipFill rotWithShape="1">
          <a:blip r:embed="rId3">
            <a:alphaModFix/>
          </a:blip>
          <a:srcRect b="0" l="0" r="0" t="0"/>
          <a:stretch/>
        </p:blipFill>
        <p:spPr>
          <a:xfrm>
            <a:off x="874643" y="1103276"/>
            <a:ext cx="6955928" cy="3694011"/>
          </a:xfrm>
          <a:prstGeom prst="rect">
            <a:avLst/>
          </a:prstGeom>
          <a:noFill/>
          <a:ln>
            <a:noFill/>
          </a:ln>
        </p:spPr>
      </p:pic>
      <p:sp>
        <p:nvSpPr>
          <p:cNvPr id="346" name="Google Shape;346;p53"/>
          <p:cNvSpPr/>
          <p:nvPr/>
        </p:nvSpPr>
        <p:spPr>
          <a:xfrm>
            <a:off x="874643" y="692394"/>
            <a:ext cx="2980857" cy="410882"/>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fr-FR" sz="1800">
                <a:solidFill>
                  <a:schemeClr val="dk1"/>
                </a:solidFill>
                <a:latin typeface="Calibri"/>
                <a:ea typeface="Calibri"/>
                <a:cs typeface="Calibri"/>
                <a:sym typeface="Calibri"/>
              </a:rPr>
              <a:t>Et nous voila enfin</a:t>
            </a:r>
            <a:endParaRPr sz="1600">
              <a:solidFill>
                <a:schemeClr val="dk1"/>
              </a:solidFill>
              <a:latin typeface="Calibri"/>
              <a:ea typeface="Calibri"/>
              <a:cs typeface="Calibri"/>
              <a:sym typeface="Calibri"/>
            </a:endParaRPr>
          </a:p>
        </p:txBody>
      </p:sp>
      <p:sp>
        <p:nvSpPr>
          <p:cNvPr id="347" name="Google Shape;347;p53"/>
          <p:cNvSpPr/>
          <p:nvPr/>
        </p:nvSpPr>
        <p:spPr>
          <a:xfrm>
            <a:off x="762948" y="4797287"/>
            <a:ext cx="8577942" cy="1125052"/>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fr-FR" sz="1800">
                <a:solidFill>
                  <a:schemeClr val="dk1"/>
                </a:solidFill>
                <a:latin typeface="Times New Roman"/>
                <a:ea typeface="Times New Roman"/>
                <a:cs typeface="Times New Roman"/>
                <a:sym typeface="Times New Roman"/>
              </a:rPr>
              <a:t>Une fois le serveur redémarré,</a:t>
            </a:r>
            <a:endParaRPr/>
          </a:p>
          <a:p>
            <a:pPr indent="0" lvl="0" marL="0" marR="0" rtl="0" algn="l">
              <a:lnSpc>
                <a:spcPct val="115000"/>
              </a:lnSpc>
              <a:spcBef>
                <a:spcPts val="800"/>
              </a:spcBef>
              <a:spcAft>
                <a:spcPts val="0"/>
              </a:spcAft>
              <a:buNone/>
            </a:pPr>
            <a:r>
              <a:rPr lang="fr-FR" sz="1800">
                <a:solidFill>
                  <a:schemeClr val="dk1"/>
                </a:solidFill>
                <a:latin typeface="Times New Roman"/>
                <a:ea typeface="Times New Roman"/>
                <a:cs typeface="Times New Roman"/>
                <a:sym typeface="Times New Roman"/>
              </a:rPr>
              <a:t> connectez-vous avec le compte Administrateur présent désormais dans l’Active Directory et nous pouvons maintenant commencer à administrer notre domaine Ada.local</a:t>
            </a:r>
            <a:endParaRPr sz="1600">
              <a:solidFill>
                <a:schemeClr val="dk1"/>
              </a:solidFill>
              <a:latin typeface="Times New Roman"/>
              <a:ea typeface="Times New Roman"/>
              <a:cs typeface="Times New Roman"/>
              <a:sym typeface="Times New Roman"/>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000"/>
                                        <p:tgtEl>
                                          <p:spTgt spid="3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Trebuchet MS"/>
              <a:buNone/>
            </a:pPr>
            <a:r>
              <a:rPr b="1" lang="fr-FR"/>
              <a:t>INSTALLATION ET CONFIGURATION D’UN SERVEUR DNS WINDOWS SERVER 2012</a:t>
            </a:r>
            <a:br>
              <a:rPr b="1" lang="fr-FR"/>
            </a:br>
            <a:endParaRPr/>
          </a:p>
        </p:txBody>
      </p:sp>
      <p:sp>
        <p:nvSpPr>
          <p:cNvPr id="353" name="Google Shape;353;p5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DNS est un service de résolution de noms qui transforme les noms d’ordinateurs en adresses IP .</a:t>
            </a:r>
            <a:endParaRPr/>
          </a:p>
          <a:p>
            <a:pPr indent="-342900" lvl="0" marL="342900" rtl="0" algn="l">
              <a:spcBef>
                <a:spcPts val="1000"/>
              </a:spcBef>
              <a:spcAft>
                <a:spcPts val="0"/>
              </a:spcAft>
              <a:buSzPts val="1440"/>
              <a:buChar char="►"/>
            </a:pPr>
            <a:r>
              <a:rPr lang="fr-FR"/>
              <a:t> Par exemple, le nom d’hôte complet ordinateur84.mon entreprise.com peut être résolu en une adresse IP , ce qui permet aux autres ordinateurs de se reconnaître. DNS fonctionne avec la pile de protocole TCP/IP et peut être intégré à WINS, DHCP (Dynamic Host Configuration Protocol) et les Services de domaine Active Directory. Comme cela est expliqué au chapitre 15, « Exécution des clients et des serveurs DHCP », le protocole DHCP est destiné à l’adressage IP dynamique et à la configuration TCP/IP .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500"/>
                                        <p:tgtEl>
                                          <p:spTgt spid="3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0" st="0"/>
                                            </p:txEl>
                                          </p:spTgt>
                                        </p:tgtEl>
                                        <p:attrNameLst>
                                          <p:attrName>style.visibility</p:attrName>
                                        </p:attrNameLst>
                                      </p:cBhvr>
                                      <p:to>
                                        <p:strVal val="visible"/>
                                      </p:to>
                                    </p:set>
                                    <p:animEffect filter="fade" transition="in">
                                      <p:cBhvr>
                                        <p:cTn dur="1000"/>
                                        <p:tgtEl>
                                          <p:spTgt spid="3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1" st="1"/>
                                            </p:txEl>
                                          </p:spTgt>
                                        </p:tgtEl>
                                        <p:attrNameLst>
                                          <p:attrName>style.visibility</p:attrName>
                                        </p:attrNameLst>
                                      </p:cBhvr>
                                      <p:to>
                                        <p:strVal val="visible"/>
                                      </p:to>
                                    </p:set>
                                    <p:animEffect filter="fade" transition="in">
                                      <p:cBhvr>
                                        <p:cTn dur="1000"/>
                                        <p:tgtEl>
                                          <p:spTgt spid="353">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type="title"/>
          </p:nvPr>
        </p:nvSpPr>
        <p:spPr>
          <a:xfrm>
            <a:off x="972548" y="32757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fr-FR"/>
              <a:t>SYSTEME HIERARCHIQUE du DNS</a:t>
            </a:r>
            <a:br>
              <a:rPr b="1" lang="fr-FR"/>
            </a:br>
            <a:endParaRPr/>
          </a:p>
        </p:txBody>
      </p:sp>
      <p:sp>
        <p:nvSpPr>
          <p:cNvPr id="359" name="Google Shape;359;p55"/>
          <p:cNvSpPr/>
          <p:nvPr/>
        </p:nvSpPr>
        <p:spPr>
          <a:xfrm>
            <a:off x="1047750" y="2462530"/>
            <a:ext cx="5638800" cy="3629025"/>
          </a:xfrm>
          <a:prstGeom prst="rect">
            <a:avLst/>
          </a:prstGeom>
          <a:solidFill>
            <a:schemeClr val="lt1"/>
          </a:solidFill>
          <a:ln cap="flat" cmpd="sng" w="12700">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60" name="Google Shape;360;p55"/>
          <p:cNvSpPr/>
          <p:nvPr/>
        </p:nvSpPr>
        <p:spPr>
          <a:xfrm>
            <a:off x="2304415" y="4215130"/>
            <a:ext cx="1952625" cy="581025"/>
          </a:xfrm>
          <a:prstGeom prst="rect">
            <a:avLst/>
          </a:prstGeom>
          <a:solidFill>
            <a:schemeClr val="lt1"/>
          </a:solidFill>
          <a:ln cap="flat" cmpd="sng" w="12700">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None/>
            </a:pPr>
            <a:r>
              <a:rPr lang="fr-FR" sz="1100">
                <a:solidFill>
                  <a:schemeClr val="dk1"/>
                </a:solidFill>
                <a:latin typeface="Trebuchet MS"/>
                <a:ea typeface="Trebuchet MS"/>
                <a:cs typeface="Trebuchet MS"/>
                <a:sym typeface="Trebuchet MS"/>
              </a:rPr>
              <a:t>Nom de domaine</a:t>
            </a:r>
            <a:endParaRPr/>
          </a:p>
        </p:txBody>
      </p:sp>
      <p:cxnSp>
        <p:nvCxnSpPr>
          <p:cNvPr id="361" name="Google Shape;361;p55"/>
          <p:cNvCxnSpPr/>
          <p:nvPr/>
        </p:nvCxnSpPr>
        <p:spPr>
          <a:xfrm>
            <a:off x="4029075" y="3677285"/>
            <a:ext cx="866775" cy="600075"/>
          </a:xfrm>
          <a:prstGeom prst="straightConnector1">
            <a:avLst/>
          </a:prstGeom>
          <a:noFill/>
          <a:ln cap="flat" cmpd="sng" w="9525">
            <a:solidFill>
              <a:schemeClr val="accent1"/>
            </a:solidFill>
            <a:prstDash val="solid"/>
            <a:miter lim="8000"/>
            <a:headEnd len="sm" w="sm" type="none"/>
            <a:tailEnd len="med" w="med" type="triangle"/>
          </a:ln>
        </p:spPr>
      </p:cxnSp>
      <p:sp>
        <p:nvSpPr>
          <p:cNvPr id="362" name="Google Shape;362;p55"/>
          <p:cNvSpPr/>
          <p:nvPr/>
        </p:nvSpPr>
        <p:spPr>
          <a:xfrm>
            <a:off x="1047750" y="4842510"/>
            <a:ext cx="895350" cy="419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None/>
            </a:pPr>
            <a:r>
              <a:rPr lang="fr-FR" sz="1100">
                <a:solidFill>
                  <a:schemeClr val="dk1"/>
                </a:solidFill>
                <a:latin typeface="Trebuchet MS"/>
                <a:ea typeface="Trebuchet MS"/>
                <a:cs typeface="Trebuchet MS"/>
                <a:sym typeface="Trebuchet MS"/>
              </a:rPr>
              <a:t>Ada</a:t>
            </a:r>
            <a:endParaRPr sz="1100">
              <a:solidFill>
                <a:schemeClr val="dk1"/>
              </a:solidFill>
              <a:latin typeface="Trebuchet MS"/>
              <a:ea typeface="Trebuchet MS"/>
              <a:cs typeface="Trebuchet MS"/>
              <a:sym typeface="Trebuchet MS"/>
            </a:endParaRPr>
          </a:p>
        </p:txBody>
      </p:sp>
      <p:cxnSp>
        <p:nvCxnSpPr>
          <p:cNvPr id="363" name="Google Shape;363;p55"/>
          <p:cNvCxnSpPr/>
          <p:nvPr/>
        </p:nvCxnSpPr>
        <p:spPr>
          <a:xfrm flipH="1">
            <a:off x="1847850" y="4844415"/>
            <a:ext cx="400050" cy="190500"/>
          </a:xfrm>
          <a:prstGeom prst="straightConnector1">
            <a:avLst/>
          </a:prstGeom>
          <a:noFill/>
          <a:ln cap="flat" cmpd="sng" w="9525">
            <a:solidFill>
              <a:schemeClr val="accent1"/>
            </a:solidFill>
            <a:prstDash val="solid"/>
            <a:miter lim="8000"/>
            <a:headEnd len="sm" w="sm" type="none"/>
            <a:tailEnd len="med" w="med" type="triangle"/>
          </a:ln>
        </p:spPr>
      </p:cxnSp>
      <p:sp>
        <p:nvSpPr>
          <p:cNvPr id="364" name="Google Shape;364;p55"/>
          <p:cNvSpPr/>
          <p:nvPr/>
        </p:nvSpPr>
        <p:spPr>
          <a:xfrm>
            <a:off x="5495925" y="3772535"/>
            <a:ext cx="1114425" cy="8477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None/>
            </a:pPr>
            <a:r>
              <a:rPr lang="fr-FR" sz="1100">
                <a:solidFill>
                  <a:schemeClr val="dk1"/>
                </a:solidFill>
                <a:latin typeface="Trebuchet MS"/>
                <a:ea typeface="Trebuchet MS"/>
                <a:cs typeface="Trebuchet MS"/>
                <a:sym typeface="Trebuchet MS"/>
              </a:rPr>
              <a:t>Domaine de premier niveau</a:t>
            </a:r>
            <a:endParaRPr/>
          </a:p>
        </p:txBody>
      </p:sp>
      <p:sp>
        <p:nvSpPr>
          <p:cNvPr id="365" name="Google Shape;365;p55"/>
          <p:cNvSpPr/>
          <p:nvPr/>
        </p:nvSpPr>
        <p:spPr>
          <a:xfrm>
            <a:off x="4438650" y="4386580"/>
            <a:ext cx="1457325" cy="7048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None/>
            </a:pPr>
            <a:r>
              <a:rPr lang="fr-FR" sz="1100">
                <a:solidFill>
                  <a:schemeClr val="dk1"/>
                </a:solidFill>
                <a:latin typeface="Trebuchet MS"/>
                <a:ea typeface="Trebuchet MS"/>
                <a:cs typeface="Trebuchet MS"/>
                <a:sym typeface="Trebuchet MS"/>
              </a:rPr>
              <a:t>RACINE</a:t>
            </a:r>
            <a:endParaRPr/>
          </a:p>
          <a:p>
            <a:pPr indent="0" lvl="0" marL="0" marR="0" rtl="0" algn="l">
              <a:lnSpc>
                <a:spcPct val="107000"/>
              </a:lnSpc>
              <a:spcBef>
                <a:spcPts val="800"/>
              </a:spcBef>
              <a:spcAft>
                <a:spcPts val="0"/>
              </a:spcAft>
              <a:buNone/>
            </a:pPr>
            <a:r>
              <a:rPr lang="fr-FR" sz="1100">
                <a:solidFill>
                  <a:schemeClr val="dk1"/>
                </a:solidFill>
                <a:latin typeface="Trebuchet MS"/>
                <a:ea typeface="Trebuchet MS"/>
                <a:cs typeface="Trebuchet MS"/>
                <a:sym typeface="Trebuchet MS"/>
              </a:rPr>
              <a:t> </a:t>
            </a:r>
            <a:endParaRPr/>
          </a:p>
        </p:txBody>
      </p:sp>
      <p:sp>
        <p:nvSpPr>
          <p:cNvPr id="366" name="Google Shape;366;p55"/>
          <p:cNvSpPr/>
          <p:nvPr/>
        </p:nvSpPr>
        <p:spPr>
          <a:xfrm>
            <a:off x="1428750" y="5641340"/>
            <a:ext cx="2228850" cy="552450"/>
          </a:xfrm>
          <a:prstGeom prst="rect">
            <a:avLst/>
          </a:prstGeom>
          <a:solidFill>
            <a:schemeClr val="lt1"/>
          </a:solidFill>
          <a:ln cap="flat" cmpd="sng" w="12700">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7000"/>
              </a:lnSpc>
              <a:spcBef>
                <a:spcPts val="0"/>
              </a:spcBef>
              <a:spcAft>
                <a:spcPts val="0"/>
              </a:spcAft>
              <a:buNone/>
            </a:pPr>
            <a:r>
              <a:rPr lang="fr-FR" sz="1200">
                <a:solidFill>
                  <a:schemeClr val="dk1"/>
                </a:solidFill>
                <a:latin typeface="Trebuchet MS"/>
                <a:ea typeface="Trebuchet MS"/>
                <a:cs typeface="Trebuchet MS"/>
                <a:sym typeface="Trebuchet MS"/>
              </a:rPr>
              <a:t>Domaine Baling.Ada.com</a:t>
            </a:r>
            <a:endParaRPr sz="1100">
              <a:solidFill>
                <a:schemeClr val="dk1"/>
              </a:solidFill>
              <a:latin typeface="Trebuchet MS"/>
              <a:ea typeface="Trebuchet MS"/>
              <a:cs typeface="Trebuchet MS"/>
              <a:sym typeface="Trebuchet MS"/>
            </a:endParaRPr>
          </a:p>
          <a:p>
            <a:pPr indent="0" lvl="0" marL="0" marR="0" rtl="0" algn="ctr">
              <a:lnSpc>
                <a:spcPct val="107000"/>
              </a:lnSpc>
              <a:spcBef>
                <a:spcPts val="800"/>
              </a:spcBef>
              <a:spcAft>
                <a:spcPts val="0"/>
              </a:spcAft>
              <a:buNone/>
            </a:pPr>
            <a:r>
              <a:rPr lang="fr-FR" sz="1100">
                <a:solidFill>
                  <a:schemeClr val="dk1"/>
                </a:solidFill>
                <a:latin typeface="Trebuchet MS"/>
                <a:ea typeface="Trebuchet MS"/>
                <a:cs typeface="Trebuchet MS"/>
                <a:sym typeface="Trebuchet MS"/>
              </a:rPr>
              <a:t> </a:t>
            </a:r>
            <a:endParaRPr/>
          </a:p>
        </p:txBody>
      </p:sp>
      <p:sp>
        <p:nvSpPr>
          <p:cNvPr id="367" name="Google Shape;367;p55"/>
          <p:cNvSpPr/>
          <p:nvPr/>
        </p:nvSpPr>
        <p:spPr>
          <a:xfrm>
            <a:off x="152400" y="152400"/>
            <a:ext cx="1219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68" name="Google Shape;368;p55"/>
          <p:cNvSpPr/>
          <p:nvPr/>
        </p:nvSpPr>
        <p:spPr>
          <a:xfrm>
            <a:off x="152400" y="609600"/>
            <a:ext cx="12192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br>
              <a:rPr b="0" i="0" lang="fr-FR"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Trebuchet MS"/>
              <a:buNone/>
            </a:pPr>
            <a:r>
              <a:t/>
            </a:r>
            <a:endParaRPr b="0" i="0" sz="1800" u="none" cap="none" strike="noStrike">
              <a:solidFill>
                <a:schemeClr val="dk1"/>
              </a:solidFill>
              <a:latin typeface="Arial"/>
              <a:ea typeface="Arial"/>
              <a:cs typeface="Arial"/>
              <a:sym typeface="Arial"/>
            </a:endParaRPr>
          </a:p>
        </p:txBody>
      </p:sp>
      <p:sp>
        <p:nvSpPr>
          <p:cNvPr id="369" name="Google Shape;369;p55"/>
          <p:cNvSpPr/>
          <p:nvPr/>
        </p:nvSpPr>
        <p:spPr>
          <a:xfrm>
            <a:off x="152400" y="609600"/>
            <a:ext cx="121920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70" name="Google Shape;370;p55"/>
          <p:cNvSpPr/>
          <p:nvPr/>
        </p:nvSpPr>
        <p:spPr>
          <a:xfrm>
            <a:off x="152400" y="1162050"/>
            <a:ext cx="12192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Trebuchet MS"/>
              <a:buNone/>
            </a:pPr>
            <a:r>
              <a:t/>
            </a:r>
            <a:endParaRPr b="0" i="0" sz="11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1800"/>
              <a:buFont typeface="Trebuchet MS"/>
              <a:buNone/>
            </a:pPr>
            <a:r>
              <a:t/>
            </a:r>
            <a:endParaRPr b="0" i="0" sz="1800" u="none" cap="none" strike="noStrike">
              <a:solidFill>
                <a:schemeClr val="dk1"/>
              </a:solidFill>
              <a:latin typeface="Arial"/>
              <a:ea typeface="Arial"/>
              <a:cs typeface="Arial"/>
              <a:sym typeface="Arial"/>
            </a:endParaRPr>
          </a:p>
        </p:txBody>
      </p:sp>
      <p:sp>
        <p:nvSpPr>
          <p:cNvPr id="371" name="Google Shape;371;p55"/>
          <p:cNvSpPr/>
          <p:nvPr/>
        </p:nvSpPr>
        <p:spPr>
          <a:xfrm>
            <a:off x="152400" y="1162050"/>
            <a:ext cx="121920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grpSp>
        <p:nvGrpSpPr>
          <p:cNvPr id="372" name="Google Shape;372;p55"/>
          <p:cNvGrpSpPr/>
          <p:nvPr/>
        </p:nvGrpSpPr>
        <p:grpSpPr>
          <a:xfrm>
            <a:off x="1566862" y="1024007"/>
            <a:ext cx="4181475" cy="2974588"/>
            <a:chOff x="0" y="-221863"/>
            <a:chExt cx="4181475" cy="2974588"/>
          </a:xfrm>
        </p:grpSpPr>
        <p:sp>
          <p:nvSpPr>
            <p:cNvPr id="373" name="Google Shape;373;p55"/>
            <p:cNvSpPr/>
            <p:nvPr/>
          </p:nvSpPr>
          <p:spPr>
            <a:xfrm>
              <a:off x="1990725" y="361950"/>
              <a:ext cx="238125" cy="266700"/>
            </a:xfrm>
            <a:prstGeom prst="ellipse">
              <a:avLst/>
            </a:prstGeom>
            <a:solidFill>
              <a:schemeClr val="accent1"/>
            </a:solidFill>
            <a:ln cap="flat" cmpd="sng" w="12700">
              <a:solidFill>
                <a:srgbClr val="0A519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74" name="Google Shape;374;p55"/>
            <p:cNvSpPr/>
            <p:nvPr/>
          </p:nvSpPr>
          <p:spPr>
            <a:xfrm rot="-1368913">
              <a:off x="2228850" y="0"/>
              <a:ext cx="1209675" cy="323850"/>
            </a:xfrm>
            <a:prstGeom prst="leftArrow">
              <a:avLst>
                <a:gd fmla="val 50000" name="adj1"/>
                <a:gd fmla="val 50000" name="adj2"/>
              </a:avLst>
            </a:prstGeom>
            <a:solidFill>
              <a:schemeClr val="accent1"/>
            </a:solidFill>
            <a:ln cap="flat" cmpd="sng" w="12700">
              <a:solidFill>
                <a:srgbClr val="0A519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cxnSp>
          <p:nvCxnSpPr>
            <p:cNvPr id="375" name="Google Shape;375;p55"/>
            <p:cNvCxnSpPr/>
            <p:nvPr/>
          </p:nvCxnSpPr>
          <p:spPr>
            <a:xfrm rot="10800000">
              <a:off x="3571875" y="2247900"/>
              <a:ext cx="609600" cy="381000"/>
            </a:xfrm>
            <a:prstGeom prst="straightConnector1">
              <a:avLst/>
            </a:prstGeom>
            <a:noFill/>
            <a:ln cap="flat" cmpd="sng" w="9525">
              <a:solidFill>
                <a:schemeClr val="accent1"/>
              </a:solidFill>
              <a:prstDash val="solid"/>
              <a:miter lim="8000"/>
              <a:headEnd len="sm" w="sm" type="none"/>
              <a:tailEnd len="med" w="med" type="triangle"/>
            </a:ln>
          </p:spPr>
        </p:cxnSp>
        <p:cxnSp>
          <p:nvCxnSpPr>
            <p:cNvPr id="376" name="Google Shape;376;p55"/>
            <p:cNvCxnSpPr/>
            <p:nvPr/>
          </p:nvCxnSpPr>
          <p:spPr>
            <a:xfrm>
              <a:off x="2143125" y="657225"/>
              <a:ext cx="95250" cy="1371600"/>
            </a:xfrm>
            <a:prstGeom prst="straightConnector1">
              <a:avLst/>
            </a:prstGeom>
            <a:noFill/>
            <a:ln cap="flat" cmpd="sng" w="9525">
              <a:solidFill>
                <a:schemeClr val="accent1"/>
              </a:solidFill>
              <a:prstDash val="solid"/>
              <a:miter lim="8000"/>
              <a:headEnd len="sm" w="sm" type="none"/>
              <a:tailEnd len="med" w="med" type="triangle"/>
            </a:ln>
          </p:spPr>
        </p:cxnSp>
        <p:cxnSp>
          <p:nvCxnSpPr>
            <p:cNvPr id="377" name="Google Shape;377;p55"/>
            <p:cNvCxnSpPr/>
            <p:nvPr/>
          </p:nvCxnSpPr>
          <p:spPr>
            <a:xfrm flipH="1">
              <a:off x="1676400" y="638175"/>
              <a:ext cx="381000" cy="1400175"/>
            </a:xfrm>
            <a:prstGeom prst="straightConnector1">
              <a:avLst/>
            </a:prstGeom>
            <a:noFill/>
            <a:ln cap="flat" cmpd="sng" w="9525">
              <a:solidFill>
                <a:schemeClr val="accent1"/>
              </a:solidFill>
              <a:prstDash val="solid"/>
              <a:miter lim="8000"/>
              <a:headEnd len="sm" w="sm" type="none"/>
              <a:tailEnd len="med" w="med" type="triangle"/>
            </a:ln>
          </p:spPr>
        </p:cxnSp>
        <p:cxnSp>
          <p:nvCxnSpPr>
            <p:cNvPr id="378" name="Google Shape;378;p55"/>
            <p:cNvCxnSpPr/>
            <p:nvPr/>
          </p:nvCxnSpPr>
          <p:spPr>
            <a:xfrm flipH="1">
              <a:off x="219075" y="542925"/>
              <a:ext cx="1724025" cy="1533525"/>
            </a:xfrm>
            <a:prstGeom prst="straightConnector1">
              <a:avLst/>
            </a:prstGeom>
            <a:noFill/>
            <a:ln cap="flat" cmpd="sng" w="9525">
              <a:solidFill>
                <a:schemeClr val="accent1"/>
              </a:solidFill>
              <a:prstDash val="solid"/>
              <a:miter lim="8000"/>
              <a:headEnd len="sm" w="sm" type="none"/>
              <a:tailEnd len="med" w="med" type="triangle"/>
            </a:ln>
          </p:spPr>
        </p:cxnSp>
        <p:sp>
          <p:nvSpPr>
            <p:cNvPr id="379" name="Google Shape;379;p55"/>
            <p:cNvSpPr/>
            <p:nvPr/>
          </p:nvSpPr>
          <p:spPr>
            <a:xfrm>
              <a:off x="0" y="2095500"/>
              <a:ext cx="390525" cy="333375"/>
            </a:xfrm>
            <a:prstGeom prst="rect">
              <a:avLst/>
            </a:prstGeom>
            <a:solidFill>
              <a:schemeClr val="accent1"/>
            </a:solidFill>
            <a:ln cap="flat" cmpd="sng" w="12700">
              <a:solidFill>
                <a:srgbClr val="0A519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None/>
              </a:pPr>
              <a:r>
                <a:rPr lang="fr-FR" sz="1100">
                  <a:solidFill>
                    <a:schemeClr val="lt1"/>
                  </a:solidFill>
                  <a:latin typeface="Trebuchet MS"/>
                  <a:ea typeface="Trebuchet MS"/>
                  <a:cs typeface="Trebuchet MS"/>
                  <a:sym typeface="Trebuchet MS"/>
                </a:rPr>
                <a:t>FR</a:t>
              </a:r>
              <a:endParaRPr/>
            </a:p>
          </p:txBody>
        </p:sp>
        <p:sp>
          <p:nvSpPr>
            <p:cNvPr id="380" name="Google Shape;380;p55"/>
            <p:cNvSpPr/>
            <p:nvPr/>
          </p:nvSpPr>
          <p:spPr>
            <a:xfrm>
              <a:off x="1343025" y="2057400"/>
              <a:ext cx="495300" cy="333375"/>
            </a:xfrm>
            <a:prstGeom prst="rect">
              <a:avLst/>
            </a:prstGeom>
            <a:solidFill>
              <a:schemeClr val="accent1"/>
            </a:solidFill>
            <a:ln cap="flat" cmpd="sng" w="12700">
              <a:solidFill>
                <a:srgbClr val="0A519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None/>
              </a:pPr>
              <a:r>
                <a:rPr lang="fr-FR" sz="1100">
                  <a:solidFill>
                    <a:schemeClr val="lt1"/>
                  </a:solidFill>
                  <a:latin typeface="Trebuchet MS"/>
                  <a:ea typeface="Trebuchet MS"/>
                  <a:cs typeface="Trebuchet MS"/>
                  <a:sym typeface="Trebuchet MS"/>
                </a:rPr>
                <a:t>COM</a:t>
              </a:r>
              <a:endParaRPr/>
            </a:p>
          </p:txBody>
        </p:sp>
        <p:sp>
          <p:nvSpPr>
            <p:cNvPr id="381" name="Google Shape;381;p55"/>
            <p:cNvSpPr/>
            <p:nvPr/>
          </p:nvSpPr>
          <p:spPr>
            <a:xfrm>
              <a:off x="2019300" y="2057400"/>
              <a:ext cx="504825" cy="333375"/>
            </a:xfrm>
            <a:prstGeom prst="rect">
              <a:avLst/>
            </a:prstGeom>
            <a:solidFill>
              <a:schemeClr val="accent1"/>
            </a:solidFill>
            <a:ln cap="flat" cmpd="sng" w="12700">
              <a:solidFill>
                <a:srgbClr val="0A519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None/>
              </a:pPr>
              <a:r>
                <a:rPr lang="fr-FR" sz="1100">
                  <a:solidFill>
                    <a:schemeClr val="lt1"/>
                  </a:solidFill>
                  <a:latin typeface="Trebuchet MS"/>
                  <a:ea typeface="Trebuchet MS"/>
                  <a:cs typeface="Trebuchet MS"/>
                  <a:sym typeface="Trebuchet MS"/>
                </a:rPr>
                <a:t>NET</a:t>
              </a:r>
              <a:endParaRPr/>
            </a:p>
          </p:txBody>
        </p:sp>
        <p:sp>
          <p:nvSpPr>
            <p:cNvPr id="382" name="Google Shape;382;p55"/>
            <p:cNvSpPr/>
            <p:nvPr/>
          </p:nvSpPr>
          <p:spPr>
            <a:xfrm>
              <a:off x="3028950" y="2009775"/>
              <a:ext cx="485775" cy="333375"/>
            </a:xfrm>
            <a:prstGeom prst="rect">
              <a:avLst/>
            </a:prstGeom>
            <a:solidFill>
              <a:schemeClr val="accent1"/>
            </a:solidFill>
            <a:ln cap="flat" cmpd="sng" w="12700">
              <a:solidFill>
                <a:srgbClr val="0A519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None/>
              </a:pPr>
              <a:r>
                <a:rPr lang="fr-FR" sz="1100">
                  <a:solidFill>
                    <a:schemeClr val="lt1"/>
                  </a:solidFill>
                  <a:latin typeface="Trebuchet MS"/>
                  <a:ea typeface="Trebuchet MS"/>
                  <a:cs typeface="Trebuchet MS"/>
                  <a:sym typeface="Trebuchet MS"/>
                </a:rPr>
                <a:t>ORG</a:t>
              </a:r>
              <a:endParaRPr/>
            </a:p>
          </p:txBody>
        </p:sp>
        <p:cxnSp>
          <p:nvCxnSpPr>
            <p:cNvPr id="383" name="Google Shape;383;p55"/>
            <p:cNvCxnSpPr/>
            <p:nvPr/>
          </p:nvCxnSpPr>
          <p:spPr>
            <a:xfrm>
              <a:off x="219075" y="2457450"/>
              <a:ext cx="45719" cy="295275"/>
            </a:xfrm>
            <a:prstGeom prst="straightConnector1">
              <a:avLst/>
            </a:prstGeom>
            <a:noFill/>
            <a:ln cap="flat" cmpd="sng" w="9525">
              <a:solidFill>
                <a:schemeClr val="accent1"/>
              </a:solidFill>
              <a:prstDash val="solid"/>
              <a:miter lim="8000"/>
              <a:headEnd len="sm" w="sm" type="none"/>
              <a:tailEnd len="med" w="med" type="triangle"/>
            </a:ln>
          </p:spPr>
        </p:cxnSp>
      </p:gr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1000"/>
                                        <p:tgtEl>
                                          <p:spTgt spid="359"/>
                                        </p:tgtEl>
                                      </p:cBhvr>
                                    </p:animEffect>
                                  </p:childTnLst>
                                </p:cTn>
                              </p:par>
                              <p:par>
                                <p:cTn fill="hold" nodeType="with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1000"/>
                                        <p:tgtEl>
                                          <p:spTgt spid="372"/>
                                        </p:tgtEl>
                                      </p:cBhvr>
                                    </p:animEffect>
                                  </p:childTnLst>
                                </p:cTn>
                              </p:par>
                              <p:par>
                                <p:cTn fill="hold" nodeType="with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par>
                                <p:cTn fill="hold" nodeType="with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1000"/>
                                        <p:tgtEl>
                                          <p:spTgt spid="366"/>
                                        </p:tgtEl>
                                      </p:cBhvr>
                                    </p:animEffect>
                                  </p:childTnLst>
                                </p:cTn>
                              </p:par>
                              <p:par>
                                <p:cTn fill="hold" nodeType="with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par>
                                <p:cTn fill="hold" nodeType="with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par>
                                <p:cTn fill="hold" nodeType="with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fr-FR"/>
              <a:t>INSTALLATION DU ROLE SERVEUR DNS</a:t>
            </a:r>
            <a:br>
              <a:rPr b="1" lang="fr-FR"/>
            </a:br>
            <a:endParaRPr/>
          </a:p>
        </p:txBody>
      </p:sp>
      <p:sp>
        <p:nvSpPr>
          <p:cNvPr id="389" name="Google Shape;389;p56"/>
          <p:cNvSpPr/>
          <p:nvPr/>
        </p:nvSpPr>
        <p:spPr>
          <a:xfrm>
            <a:off x="677334" y="1903454"/>
            <a:ext cx="8466666" cy="2413994"/>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fr-FR" sz="1800">
                <a:solidFill>
                  <a:schemeClr val="dk1"/>
                </a:solidFill>
                <a:latin typeface="Calibri"/>
                <a:ea typeface="Calibri"/>
                <a:cs typeface="Calibri"/>
                <a:sym typeface="Calibri"/>
              </a:rPr>
              <a:t>Ouvrez la console Gestionnaire de serveur.</a:t>
            </a:r>
            <a:endParaRPr sz="1600">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Cliquez sur Ajouter des rôles et des fonctionnalités.</a:t>
            </a:r>
            <a:endParaRPr sz="1600">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Dans la fenêtre Sélectionner le type d’installation et laisser le choix par défaut.</a:t>
            </a:r>
            <a:endParaRPr sz="1600">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Le destinataire est SVR1KK. Laisser le choix par défaut dans fenêtre du destinataire.</a:t>
            </a:r>
            <a:endParaRPr sz="1600">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Cochez la case Serveur DNS puis cliquer sur le bouton Ajouté des fonctionnalités dans la fenêtre qui s’affiche.</a:t>
            </a:r>
            <a:endParaRPr sz="1600">
              <a:solidFill>
                <a:schemeClr val="dk1"/>
              </a:solidFill>
              <a:latin typeface="Calibri"/>
              <a:ea typeface="Calibri"/>
              <a:cs typeface="Calibri"/>
              <a:sym typeface="Calibri"/>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p57"/>
          <p:cNvPicPr preferRelativeResize="0"/>
          <p:nvPr/>
        </p:nvPicPr>
        <p:blipFill rotWithShape="1">
          <a:blip r:embed="rId3">
            <a:alphaModFix/>
          </a:blip>
          <a:srcRect b="0" l="0" r="0" t="0"/>
          <a:stretch/>
        </p:blipFill>
        <p:spPr>
          <a:xfrm>
            <a:off x="674916" y="348343"/>
            <a:ext cx="8002768" cy="4091259"/>
          </a:xfrm>
          <a:prstGeom prst="rect">
            <a:avLst/>
          </a:prstGeom>
          <a:noFill/>
          <a:ln>
            <a:noFill/>
          </a:ln>
        </p:spPr>
      </p:pic>
      <p:sp>
        <p:nvSpPr>
          <p:cNvPr id="395" name="Google Shape;395;p57"/>
          <p:cNvSpPr/>
          <p:nvPr/>
        </p:nvSpPr>
        <p:spPr>
          <a:xfrm>
            <a:off x="1219200" y="4613774"/>
            <a:ext cx="8011886" cy="1992853"/>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fr-FR" sz="1800">
                <a:solidFill>
                  <a:schemeClr val="dk1"/>
                </a:solidFill>
                <a:latin typeface="Calibri"/>
                <a:ea typeface="Calibri"/>
                <a:cs typeface="Calibri"/>
                <a:sym typeface="Calibri"/>
              </a:rPr>
              <a:t>Cliquez sur suivant dans la fenêtre des fonctionnalités</a:t>
            </a:r>
            <a:endParaRPr sz="1600">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Dans la fenêtre de confirmation cliquer sur installer</a:t>
            </a:r>
            <a:endParaRPr sz="1600">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Le rôle est maintenant installer</a:t>
            </a:r>
            <a:endParaRPr sz="1600">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Le serveur est installé mais n’est pas opérationnel. Il est nécessaire de le configurer afin qu’il puisse résoudre le nom du domaine Ada.local.</a:t>
            </a:r>
            <a:endParaRPr sz="1600">
              <a:solidFill>
                <a:schemeClr val="dk1"/>
              </a:solidFill>
              <a:latin typeface="Calibri"/>
              <a:ea typeface="Calibri"/>
              <a:cs typeface="Calibri"/>
              <a:sym typeface="Calibri"/>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1000"/>
                                        <p:tgtEl>
                                          <p:spTgt spid="3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8"/>
          <p:cNvSpPr txBox="1"/>
          <p:nvPr>
            <p:ph type="title"/>
          </p:nvPr>
        </p:nvSpPr>
        <p:spPr>
          <a:xfrm>
            <a:off x="677333" y="609600"/>
            <a:ext cx="8815009" cy="13208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Trebuchet MS"/>
              <a:buNone/>
            </a:pPr>
            <a:r>
              <a:rPr b="1" lang="fr-FR"/>
              <a:t>GESTION DES UTILISATEURS ET DES GROUPES UTILISATEURS</a:t>
            </a:r>
            <a:br>
              <a:rPr b="1" lang="fr-FR"/>
            </a:br>
            <a:endParaRPr/>
          </a:p>
        </p:txBody>
      </p:sp>
      <p:sp>
        <p:nvSpPr>
          <p:cNvPr id="401" name="Google Shape;401;p5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fr-FR"/>
              <a:t>Comme tout objet, un compte utilisateur contient des propriétés, dont un nom d’utilisateur, un mot de passe et une liste de groupes dont il est membre. Ainsi, il est possible avec ce type de compte :</a:t>
            </a:r>
            <a:endParaRPr/>
          </a:p>
          <a:p>
            <a:pPr indent="-342900" lvl="0" marL="342900" rtl="0" algn="l">
              <a:spcBef>
                <a:spcPts val="1000"/>
              </a:spcBef>
              <a:spcAft>
                <a:spcPts val="0"/>
              </a:spcAft>
              <a:buSzPts val="1440"/>
              <a:buChar char="►"/>
            </a:pPr>
            <a:r>
              <a:rPr lang="fr-FR"/>
              <a:t>D’autoriser ou de refuser l’ouverture de session sur un ordinateur.</a:t>
            </a:r>
            <a:endParaRPr/>
          </a:p>
          <a:p>
            <a:pPr indent="-342900" lvl="0" marL="342900" rtl="0" algn="l">
              <a:spcBef>
                <a:spcPts val="1000"/>
              </a:spcBef>
              <a:spcAft>
                <a:spcPts val="0"/>
              </a:spcAft>
              <a:buSzPts val="1440"/>
              <a:buChar char="►"/>
            </a:pPr>
            <a:r>
              <a:rPr lang="fr-FR"/>
              <a:t>D’autoriser l’accès à une ressource partagé.</a:t>
            </a:r>
            <a:endParaRPr/>
          </a:p>
          <a:p>
            <a:pPr indent="0" lvl="0" marL="0" rtl="0" algn="l">
              <a:spcBef>
                <a:spcPts val="1000"/>
              </a:spcBef>
              <a:spcAft>
                <a:spcPts val="0"/>
              </a:spcAft>
              <a:buSzPts val="1440"/>
              <a:buNone/>
            </a:pPr>
            <a:r>
              <a:rPr lang="fr-FR"/>
              <a:t>Pour mieux gérer les utilisateurs nous avons créé les groupes suivants :</a:t>
            </a:r>
            <a:endParaRPr/>
          </a:p>
          <a:p>
            <a:pPr indent="-342900" lvl="0" marL="342900" rtl="0" algn="l">
              <a:spcBef>
                <a:spcPts val="1000"/>
              </a:spcBef>
              <a:spcAft>
                <a:spcPts val="0"/>
              </a:spcAft>
              <a:buSzPts val="1440"/>
              <a:buChar char="►"/>
            </a:pPr>
            <a:r>
              <a:rPr lang="fr-FR"/>
              <a:t>Groupe 1 : service télécommunication</a:t>
            </a:r>
            <a:endParaRPr/>
          </a:p>
          <a:p>
            <a:pPr indent="-342900" lvl="0" marL="342900" rtl="0" algn="l">
              <a:spcBef>
                <a:spcPts val="1000"/>
              </a:spcBef>
              <a:spcAft>
                <a:spcPts val="0"/>
              </a:spcAft>
              <a:buSzPts val="1440"/>
              <a:buChar char="►"/>
            </a:pPr>
            <a:r>
              <a:rPr lang="fr-FR"/>
              <a:t>Groupe 2 : service de protection</a:t>
            </a:r>
            <a:endParaRPr/>
          </a:p>
          <a:p>
            <a:pPr indent="-342900" lvl="0" marL="342900" rtl="0" algn="l">
              <a:spcBef>
                <a:spcPts val="1000"/>
              </a:spcBef>
              <a:spcAft>
                <a:spcPts val="0"/>
              </a:spcAft>
              <a:buSzPts val="1440"/>
              <a:buChar char="►"/>
            </a:pPr>
            <a:r>
              <a:rPr lang="fr-FR"/>
              <a:t>Groupe 3 comptabilités</a:t>
            </a:r>
            <a:endParaRPr b="1"/>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500"/>
                                        <p:tgtEl>
                                          <p:spTgt spid="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xEl>
                                              <p:pRg end="0" st="0"/>
                                            </p:txEl>
                                          </p:spTgt>
                                        </p:tgtEl>
                                        <p:attrNameLst>
                                          <p:attrName>style.visibility</p:attrName>
                                        </p:attrNameLst>
                                      </p:cBhvr>
                                      <p:to>
                                        <p:strVal val="visible"/>
                                      </p:to>
                                    </p:set>
                                    <p:animEffect filter="fade" transition="in">
                                      <p:cBhvr>
                                        <p:cTn dur="1000"/>
                                        <p:tgtEl>
                                          <p:spTgt spid="4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xEl>
                                              <p:pRg end="1" st="1"/>
                                            </p:txEl>
                                          </p:spTgt>
                                        </p:tgtEl>
                                        <p:attrNameLst>
                                          <p:attrName>style.visibility</p:attrName>
                                        </p:attrNameLst>
                                      </p:cBhvr>
                                      <p:to>
                                        <p:strVal val="visible"/>
                                      </p:to>
                                    </p:set>
                                    <p:animEffect filter="fade" transition="in">
                                      <p:cBhvr>
                                        <p:cTn dur="1000"/>
                                        <p:tgtEl>
                                          <p:spTgt spid="4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xEl>
                                              <p:pRg end="2" st="2"/>
                                            </p:txEl>
                                          </p:spTgt>
                                        </p:tgtEl>
                                        <p:attrNameLst>
                                          <p:attrName>style.visibility</p:attrName>
                                        </p:attrNameLst>
                                      </p:cBhvr>
                                      <p:to>
                                        <p:strVal val="visible"/>
                                      </p:to>
                                    </p:set>
                                    <p:animEffect filter="fade" transition="in">
                                      <p:cBhvr>
                                        <p:cTn dur="1000"/>
                                        <p:tgtEl>
                                          <p:spTgt spid="4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xEl>
                                              <p:pRg end="3" st="3"/>
                                            </p:txEl>
                                          </p:spTgt>
                                        </p:tgtEl>
                                        <p:attrNameLst>
                                          <p:attrName>style.visibility</p:attrName>
                                        </p:attrNameLst>
                                      </p:cBhvr>
                                      <p:to>
                                        <p:strVal val="visible"/>
                                      </p:to>
                                    </p:set>
                                    <p:animEffect filter="fade" transition="in">
                                      <p:cBhvr>
                                        <p:cTn dur="1000"/>
                                        <p:tgtEl>
                                          <p:spTgt spid="4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xEl>
                                              <p:pRg end="4" st="4"/>
                                            </p:txEl>
                                          </p:spTgt>
                                        </p:tgtEl>
                                        <p:attrNameLst>
                                          <p:attrName>style.visibility</p:attrName>
                                        </p:attrNameLst>
                                      </p:cBhvr>
                                      <p:to>
                                        <p:strVal val="visible"/>
                                      </p:to>
                                    </p:set>
                                    <p:animEffect filter="fade" transition="in">
                                      <p:cBhvr>
                                        <p:cTn dur="1000"/>
                                        <p:tgtEl>
                                          <p:spTgt spid="4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xEl>
                                              <p:pRg end="5" st="5"/>
                                            </p:txEl>
                                          </p:spTgt>
                                        </p:tgtEl>
                                        <p:attrNameLst>
                                          <p:attrName>style.visibility</p:attrName>
                                        </p:attrNameLst>
                                      </p:cBhvr>
                                      <p:to>
                                        <p:strVal val="visible"/>
                                      </p:to>
                                    </p:set>
                                    <p:animEffect filter="fade" transition="in">
                                      <p:cBhvr>
                                        <p:cTn dur="1000"/>
                                        <p:tgtEl>
                                          <p:spTgt spid="40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xEl>
                                              <p:pRg end="6" st="6"/>
                                            </p:txEl>
                                          </p:spTgt>
                                        </p:tgtEl>
                                        <p:attrNameLst>
                                          <p:attrName>style.visibility</p:attrName>
                                        </p:attrNameLst>
                                      </p:cBhvr>
                                      <p:to>
                                        <p:strVal val="visible"/>
                                      </p:to>
                                    </p:set>
                                    <p:animEffect filter="fade" transition="in">
                                      <p:cBhvr>
                                        <p:cTn dur="1000"/>
                                        <p:tgtEl>
                                          <p:spTgt spid="40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i="1" lang="fr-FR"/>
              <a:t>CREATION D’UN COMPTE UTILISATEUR</a:t>
            </a:r>
            <a:br>
              <a:rPr b="1" i="1" lang="fr-FR"/>
            </a:br>
            <a:endParaRPr/>
          </a:p>
        </p:txBody>
      </p:sp>
      <p:sp>
        <p:nvSpPr>
          <p:cNvPr id="407" name="Google Shape;407;p5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Lors de la création d’un compte utilisateur, certains attributs comme le nom d’utilisateur et le mot de passe doivent être obligatoirement saisis. Le nom d’utilisateur utilisé doit être unique dans le domaine et la forêt. Après avoir sélectionné l’unité d’organisation qui va contenir le compte utilisateur, la création peut être opérée.</a:t>
            </a:r>
            <a:endParaRPr/>
          </a:p>
          <a:p>
            <a:pPr indent="-342900" lvl="0" marL="342900" rtl="0" algn="l">
              <a:spcBef>
                <a:spcPts val="1000"/>
              </a:spcBef>
              <a:spcAft>
                <a:spcPts val="0"/>
              </a:spcAft>
              <a:buSzPts val="1440"/>
              <a:buChar char="►"/>
            </a:pPr>
            <a:r>
              <a:rPr lang="fr-FR"/>
              <a:t>L’assistance se lance et l’administrateur saisir le prénom, le nom et le nom d’ouverture de session  de l’utilisateur. Après avoir saisi les informations obligatoires, le bouton Suivant s’active.</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100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0" st="0"/>
                                            </p:txEl>
                                          </p:spTgt>
                                        </p:tgtEl>
                                        <p:attrNameLst>
                                          <p:attrName>style.visibility</p:attrName>
                                        </p:attrNameLst>
                                      </p:cBhvr>
                                      <p:to>
                                        <p:strVal val="visible"/>
                                      </p:to>
                                    </p:set>
                                    <p:animEffect filter="fade" transition="in">
                                      <p:cBhvr>
                                        <p:cTn dur="1000"/>
                                        <p:tgtEl>
                                          <p:spTgt spid="4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1" st="1"/>
                                            </p:txEl>
                                          </p:spTgt>
                                        </p:tgtEl>
                                        <p:attrNameLst>
                                          <p:attrName>style.visibility</p:attrName>
                                        </p:attrNameLst>
                                      </p:cBhvr>
                                      <p:to>
                                        <p:strVal val="visible"/>
                                      </p:to>
                                    </p:set>
                                    <p:animEffect filter="fade" transition="in">
                                      <p:cBhvr>
                                        <p:cTn dur="1000"/>
                                        <p:tgtEl>
                                          <p:spTgt spid="4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xEl>
                                              <p:pRg end="2" st="2"/>
                                            </p:txEl>
                                          </p:spTgt>
                                        </p:tgtEl>
                                        <p:attrNameLst>
                                          <p:attrName>style.visibility</p:attrName>
                                        </p:attrNameLst>
                                      </p:cBhvr>
                                      <p:to>
                                        <p:strVal val="visible"/>
                                      </p:to>
                                    </p:set>
                                    <p:animEffect filter="fade" transition="in">
                                      <p:cBhvr>
                                        <p:cTn dur="1000"/>
                                        <p:tgtEl>
                                          <p:spTgt spid="40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Des caractères non alphanumériques peuvent être utilisés afin de générer des noms d’utilisateur unique (exemple : stoungara.), attention néanmoins, cela peut poser des problèmes avec certaines applications.</a:t>
            </a:r>
            <a:endParaRPr/>
          </a:p>
          <a:p>
            <a:pPr indent="-342900" lvl="0" marL="342900" rtl="0" algn="l">
              <a:spcBef>
                <a:spcPts val="1000"/>
              </a:spcBef>
              <a:spcAft>
                <a:spcPts val="0"/>
              </a:spcAft>
              <a:buSzPts val="1440"/>
              <a:buChar char="►"/>
            </a:pPr>
            <a:r>
              <a:rPr lang="fr-FR"/>
              <a:t>Par la suite, il est nécessaire de donner un mot de passe temporaire. Il est intéressant à ce moment-là de cocher l’option l’utilisateur doit changer le mot de passe à la prochaine ouverture de session, ceci permet d’obliger l’utilisateur à changer son mot de passe dès sa première ouverture de session (ce changement est obligatoire).</a:t>
            </a:r>
            <a:endParaRPr/>
          </a:p>
          <a:p>
            <a:pPr indent="0" lvl="0" marL="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0" st="0"/>
                                            </p:txEl>
                                          </p:spTgt>
                                        </p:tgtEl>
                                        <p:attrNameLst>
                                          <p:attrName>style.visibility</p:attrName>
                                        </p:attrNameLst>
                                      </p:cBhvr>
                                      <p:to>
                                        <p:strVal val="visible"/>
                                      </p:to>
                                    </p:set>
                                    <p:animEffect filter="fade" transition="in">
                                      <p:cBhvr>
                                        <p:cTn dur="1000"/>
                                        <p:tgtEl>
                                          <p:spTgt spid="4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1" st="1"/>
                                            </p:txEl>
                                          </p:spTgt>
                                        </p:tgtEl>
                                        <p:attrNameLst>
                                          <p:attrName>style.visibility</p:attrName>
                                        </p:attrNameLst>
                                      </p:cBhvr>
                                      <p:to>
                                        <p:strVal val="visible"/>
                                      </p:to>
                                    </p:set>
                                    <p:animEffect filter="fade" transition="in">
                                      <p:cBhvr>
                                        <p:cTn dur="1000"/>
                                        <p:tgtEl>
                                          <p:spTgt spid="4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2" st="2"/>
                                            </p:txEl>
                                          </p:spTgt>
                                        </p:tgtEl>
                                        <p:attrNameLst>
                                          <p:attrName>style.visibility</p:attrName>
                                        </p:attrNameLst>
                                      </p:cBhvr>
                                      <p:to>
                                        <p:strVal val="visible"/>
                                      </p:to>
                                    </p:set>
                                    <p:animEffect filter="fade" transition="in">
                                      <p:cBhvr>
                                        <p:cTn dur="1000"/>
                                        <p:tgtEl>
                                          <p:spTgt spid="41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1"/>
          <p:cNvSpPr/>
          <p:nvPr/>
        </p:nvSpPr>
        <p:spPr>
          <a:xfrm>
            <a:off x="1338469" y="1524001"/>
            <a:ext cx="7341704" cy="258532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fr-FR" sz="1800">
                <a:solidFill>
                  <a:schemeClr val="dk1"/>
                </a:solidFill>
                <a:latin typeface="Trebuchet MS"/>
                <a:ea typeface="Trebuchet MS"/>
                <a:cs typeface="Trebuchet MS"/>
                <a:sym typeface="Trebuchet MS"/>
              </a:rPr>
              <a:t>On peut:</a:t>
            </a:r>
            <a:endParaRPr/>
          </a:p>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a:p>
            <a:pPr indent="-285750" lvl="0" marL="285750" marR="0" rtl="0" algn="l">
              <a:spcBef>
                <a:spcPts val="0"/>
              </a:spcBef>
              <a:spcAft>
                <a:spcPts val="0"/>
              </a:spcAft>
              <a:buClr>
                <a:schemeClr val="dk1"/>
              </a:buClr>
              <a:buSzPts val="1800"/>
              <a:buFont typeface="Noto Sans Symbols"/>
              <a:buChar char="❑"/>
            </a:pPr>
            <a:r>
              <a:rPr lang="fr-FR" sz="1800">
                <a:solidFill>
                  <a:schemeClr val="dk1"/>
                </a:solidFill>
                <a:latin typeface="Trebuchet MS"/>
                <a:ea typeface="Trebuchet MS"/>
                <a:cs typeface="Trebuchet MS"/>
                <a:sym typeface="Trebuchet MS"/>
              </a:rPr>
              <a:t>configuration des attributs d’un compte utilisateur</a:t>
            </a:r>
            <a:endParaRPr/>
          </a:p>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a:p>
            <a:pPr indent="-285750" lvl="0" marL="285750" marR="0" rtl="0" algn="l">
              <a:spcBef>
                <a:spcPts val="0"/>
              </a:spcBef>
              <a:spcAft>
                <a:spcPts val="0"/>
              </a:spcAft>
              <a:buClr>
                <a:schemeClr val="dk1"/>
              </a:buClr>
              <a:buSzPts val="1800"/>
              <a:buFont typeface="Noto Sans Symbols"/>
              <a:buChar char="❑"/>
            </a:pPr>
            <a:r>
              <a:rPr lang="fr-FR" sz="1800">
                <a:solidFill>
                  <a:schemeClr val="dk1"/>
                </a:solidFill>
                <a:latin typeface="Trebuchet MS"/>
                <a:ea typeface="Trebuchet MS"/>
                <a:cs typeface="Trebuchet MS"/>
                <a:sym typeface="Trebuchet MS"/>
              </a:rPr>
              <a:t>Cree un groupe d’utilisateur </a:t>
            </a:r>
            <a:endParaRPr/>
          </a:p>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a:p>
            <a:pPr indent="-285750" lvl="0" marL="285750" marR="0" rtl="0" algn="l">
              <a:spcBef>
                <a:spcPts val="0"/>
              </a:spcBef>
              <a:spcAft>
                <a:spcPts val="0"/>
              </a:spcAft>
              <a:buClr>
                <a:schemeClr val="dk1"/>
              </a:buClr>
              <a:buSzPts val="1800"/>
              <a:buFont typeface="Noto Sans Symbols"/>
              <a:buChar char="❑"/>
            </a:pPr>
            <a:r>
              <a:rPr lang="fr-FR" sz="1800">
                <a:solidFill>
                  <a:schemeClr val="dk1"/>
                </a:solidFill>
                <a:latin typeface="Trebuchet MS"/>
                <a:ea typeface="Trebuchet MS"/>
                <a:cs typeface="Trebuchet MS"/>
                <a:sym typeface="Trebuchet MS"/>
              </a:rPr>
              <a:t>Elaborer des stratégies de groupe sous Windows server 2012</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Trebuchet MS"/>
              <a:ea typeface="Trebuchet MS"/>
              <a:cs typeface="Trebuchet MS"/>
              <a:sym typeface="Trebuchet MS"/>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Trebuchet MS"/>
              <a:ea typeface="Trebuchet MS"/>
              <a:cs typeface="Trebuchet MS"/>
              <a:sym typeface="Trebuchet MS"/>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1000"/>
                                        <p:tgtEl>
                                          <p:spTgt spid="4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Trebuchet MS"/>
              <a:buNone/>
            </a:pPr>
            <a:r>
              <a:rPr b="1" lang="fr-FR"/>
              <a:t>INSTALLATION ET CONFIGURATION D’UN SERVEUR DHCP</a:t>
            </a:r>
            <a:br>
              <a:rPr b="1" lang="fr-FR"/>
            </a:br>
            <a:endParaRPr/>
          </a:p>
        </p:txBody>
      </p:sp>
      <p:sp>
        <p:nvSpPr>
          <p:cNvPr id="423" name="Google Shape;423;p6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DHCP (Dynamics Host Configuration Protocol) est un protocole qui nous a permis d’assurer la configuration automatique des interfaces réseaux. Cette configuration comprend une adresse IP, un masque de sous-réseaux mais également une passerelle et un serveur DNS. D’autres paramètres supplémentaires peuvent être distribués (serveur WINS…).</a:t>
            </a:r>
            <a:endParaRPr/>
          </a:p>
          <a:p>
            <a:pPr indent="-342900" lvl="0" marL="342900" rtl="0" algn="l">
              <a:spcBef>
                <a:spcPts val="1000"/>
              </a:spcBef>
              <a:spcAft>
                <a:spcPts val="0"/>
              </a:spcAft>
              <a:buSzPts val="1440"/>
              <a:buChar char="►"/>
            </a:pPr>
            <a:r>
              <a:rPr lang="fr-FR"/>
              <a:t>La taille des réseaux actuels nous oblige à faire recours à l’adressage dynamique du service DHCP (Dynamics Host Control Protocol)</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500"/>
                                        <p:tgtEl>
                                          <p:spTgt spid="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xEl>
                                              <p:pRg end="0" st="0"/>
                                            </p:txEl>
                                          </p:spTgt>
                                        </p:tgtEl>
                                        <p:attrNameLst>
                                          <p:attrName>style.visibility</p:attrName>
                                        </p:attrNameLst>
                                      </p:cBhvr>
                                      <p:to>
                                        <p:strVal val="visible"/>
                                      </p:to>
                                    </p:set>
                                    <p:animEffect filter="fade" transition="in">
                                      <p:cBhvr>
                                        <p:cTn dur="1000"/>
                                        <p:tgtEl>
                                          <p:spTgt spid="4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xEl>
                                              <p:pRg end="1" st="1"/>
                                            </p:txEl>
                                          </p:spTgt>
                                        </p:tgtEl>
                                        <p:attrNameLst>
                                          <p:attrName>style.visibility</p:attrName>
                                        </p:attrNameLst>
                                      </p:cBhvr>
                                      <p:to>
                                        <p:strVal val="visible"/>
                                      </p:to>
                                    </p:set>
                                    <p:animEffect filter="fade" transition="in">
                                      <p:cBhvr>
                                        <p:cTn dur="1000"/>
                                        <p:tgtEl>
                                          <p:spTgt spid="4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xEl>
                                              <p:pRg end="2" st="2"/>
                                            </p:txEl>
                                          </p:spTgt>
                                        </p:tgtEl>
                                        <p:attrNameLst>
                                          <p:attrName>style.visibility</p:attrName>
                                        </p:attrNameLst>
                                      </p:cBhvr>
                                      <p:to>
                                        <p:strVal val="visible"/>
                                      </p:to>
                                    </p:set>
                                    <p:animEffect filter="fade" transition="in">
                                      <p:cBhvr>
                                        <p:cTn dur="1000"/>
                                        <p:tgtEl>
                                          <p:spTgt spid="423">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Trebuchet MS"/>
              <a:buNone/>
            </a:pPr>
            <a:r>
              <a:rPr b="1" lang="fr-FR"/>
              <a:t>INSTALLATION ET CONFIGURATION DU ROLE DHCP</a:t>
            </a:r>
            <a:br>
              <a:rPr b="1" lang="fr-FR"/>
            </a:br>
            <a:endParaRPr/>
          </a:p>
        </p:txBody>
      </p:sp>
      <p:sp>
        <p:nvSpPr>
          <p:cNvPr id="429" name="Google Shape;429;p6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fr-FR"/>
              <a:t>Pour qu’un serveur DHCP  puisse distribuer des adresses IP, il est nécessaire de lui donner un réservoir d’adresses dans lequel il pourra puiser : c’est la plage d’adresse.</a:t>
            </a:r>
            <a:endParaRPr/>
          </a:p>
          <a:p>
            <a:pPr indent="-342900" lvl="0" marL="342900" rtl="0" algn="l">
              <a:spcBef>
                <a:spcPts val="1000"/>
              </a:spcBef>
              <a:spcAft>
                <a:spcPts val="0"/>
              </a:spcAft>
              <a:buSzPts val="1440"/>
              <a:buChar char="►"/>
            </a:pPr>
            <a:r>
              <a:rPr lang="fr-FR"/>
              <a:t>Comme pour les autres qui peuvent être ajoutés au serveur, DHCP est un rôle. Son installation s’effectue à l’aide de la console Gestionnaire de serveur.</a:t>
            </a:r>
            <a:endParaRPr/>
          </a:p>
          <a:p>
            <a:pPr indent="-342900" lvl="0" marL="342900" rtl="0" algn="l">
              <a:spcBef>
                <a:spcPts val="1000"/>
              </a:spcBef>
              <a:spcAft>
                <a:spcPts val="0"/>
              </a:spcAft>
              <a:buSzPts val="1440"/>
              <a:buChar char="►"/>
            </a:pPr>
            <a:r>
              <a:rPr lang="fr-FR"/>
              <a:t>Nous allons ouvrir le Gestionnaire de serveur et cliquez sur Ajouter un rôle.</a:t>
            </a:r>
            <a:endParaRPr/>
          </a:p>
          <a:p>
            <a:pPr indent="-342900" lvl="0" marL="342900" rtl="0" algn="l">
              <a:spcBef>
                <a:spcPts val="1000"/>
              </a:spcBef>
              <a:spcAft>
                <a:spcPts val="0"/>
              </a:spcAft>
              <a:buSzPts val="1440"/>
              <a:buChar char="►"/>
            </a:pPr>
            <a:r>
              <a:rPr lang="fr-FR"/>
              <a:t>Dans la fenêtre Sélectionner le type d’installation, laissons le choix par défaut.</a:t>
            </a:r>
            <a:endParaRPr/>
          </a:p>
          <a:p>
            <a:pPr indent="-342900" lvl="0" marL="342900" rtl="0" algn="l">
              <a:spcBef>
                <a:spcPts val="1000"/>
              </a:spcBef>
              <a:spcAft>
                <a:spcPts val="0"/>
              </a:spcAft>
              <a:buSzPts val="1440"/>
              <a:buChar char="►"/>
            </a:pPr>
            <a:r>
              <a:rPr lang="fr-FR"/>
              <a:t>Le serveur destination est SVR1KK. Laissons le choix par défaut.</a:t>
            </a:r>
            <a:endParaRPr/>
          </a:p>
          <a:p>
            <a:pPr indent="-342900" lvl="0" marL="342900" rtl="0" algn="l">
              <a:spcBef>
                <a:spcPts val="1000"/>
              </a:spcBef>
              <a:spcAft>
                <a:spcPts val="0"/>
              </a:spcAft>
              <a:buSzPts val="1440"/>
              <a:buChar char="►"/>
            </a:pPr>
            <a:r>
              <a:rPr lang="fr-FR"/>
              <a:t>Sélectionnons le rôle Serveur DHCP. Les fonctionnalités doivent être installées. Cliquons sur Ajoutez des fonctionnalités dans la fenêtre qui s’affiche.</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500"/>
                                        <p:tgtEl>
                                          <p:spTgt spid="4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0" st="0"/>
                                            </p:txEl>
                                          </p:spTgt>
                                        </p:tgtEl>
                                        <p:attrNameLst>
                                          <p:attrName>style.visibility</p:attrName>
                                        </p:attrNameLst>
                                      </p:cBhvr>
                                      <p:to>
                                        <p:strVal val="visible"/>
                                      </p:to>
                                    </p:set>
                                    <p:animEffect filter="fade" transition="in">
                                      <p:cBhvr>
                                        <p:cTn dur="1000"/>
                                        <p:tgtEl>
                                          <p:spTgt spid="4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1" st="1"/>
                                            </p:txEl>
                                          </p:spTgt>
                                        </p:tgtEl>
                                        <p:attrNameLst>
                                          <p:attrName>style.visibility</p:attrName>
                                        </p:attrNameLst>
                                      </p:cBhvr>
                                      <p:to>
                                        <p:strVal val="visible"/>
                                      </p:to>
                                    </p:set>
                                    <p:animEffect filter="fade" transition="in">
                                      <p:cBhvr>
                                        <p:cTn dur="1000"/>
                                        <p:tgtEl>
                                          <p:spTgt spid="42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2" st="2"/>
                                            </p:txEl>
                                          </p:spTgt>
                                        </p:tgtEl>
                                        <p:attrNameLst>
                                          <p:attrName>style.visibility</p:attrName>
                                        </p:attrNameLst>
                                      </p:cBhvr>
                                      <p:to>
                                        <p:strVal val="visible"/>
                                      </p:to>
                                    </p:set>
                                    <p:animEffect filter="fade" transition="in">
                                      <p:cBhvr>
                                        <p:cTn dur="1000"/>
                                        <p:tgtEl>
                                          <p:spTgt spid="42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3" st="3"/>
                                            </p:txEl>
                                          </p:spTgt>
                                        </p:tgtEl>
                                        <p:attrNameLst>
                                          <p:attrName>style.visibility</p:attrName>
                                        </p:attrNameLst>
                                      </p:cBhvr>
                                      <p:to>
                                        <p:strVal val="visible"/>
                                      </p:to>
                                    </p:set>
                                    <p:animEffect filter="fade" transition="in">
                                      <p:cBhvr>
                                        <p:cTn dur="1000"/>
                                        <p:tgtEl>
                                          <p:spTgt spid="42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4" st="4"/>
                                            </p:txEl>
                                          </p:spTgt>
                                        </p:tgtEl>
                                        <p:attrNameLst>
                                          <p:attrName>style.visibility</p:attrName>
                                        </p:attrNameLst>
                                      </p:cBhvr>
                                      <p:to>
                                        <p:strVal val="visible"/>
                                      </p:to>
                                    </p:set>
                                    <p:animEffect filter="fade" transition="in">
                                      <p:cBhvr>
                                        <p:cTn dur="1000"/>
                                        <p:tgtEl>
                                          <p:spTgt spid="42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5" st="5"/>
                                            </p:txEl>
                                          </p:spTgt>
                                        </p:tgtEl>
                                        <p:attrNameLst>
                                          <p:attrName>style.visibility</p:attrName>
                                        </p:attrNameLst>
                                      </p:cBhvr>
                                      <p:to>
                                        <p:strVal val="visible"/>
                                      </p:to>
                                    </p:set>
                                    <p:animEffect filter="fade" transition="in">
                                      <p:cBhvr>
                                        <p:cTn dur="1000"/>
                                        <p:tgtEl>
                                          <p:spTgt spid="42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6" st="6"/>
                                            </p:txEl>
                                          </p:spTgt>
                                        </p:tgtEl>
                                        <p:attrNameLst>
                                          <p:attrName>style.visibility</p:attrName>
                                        </p:attrNameLst>
                                      </p:cBhvr>
                                      <p:to>
                                        <p:strVal val="visible"/>
                                      </p:to>
                                    </p:set>
                                    <p:animEffect filter="fade" transition="in">
                                      <p:cBhvr>
                                        <p:cTn dur="1000"/>
                                        <p:tgtEl>
                                          <p:spTgt spid="429">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pic>
        <p:nvPicPr>
          <p:cNvPr descr="C:\Users\DRA\Pictures\W2012\dhcp0.PNG" id="434" name="Google Shape;434;p64"/>
          <p:cNvPicPr preferRelativeResize="0"/>
          <p:nvPr>
            <p:ph idx="1" type="body"/>
          </p:nvPr>
        </p:nvPicPr>
        <p:blipFill rotWithShape="1">
          <a:blip r:embed="rId3">
            <a:alphaModFix/>
          </a:blip>
          <a:srcRect b="0" l="0" r="0" t="0"/>
          <a:stretch/>
        </p:blipFill>
        <p:spPr>
          <a:xfrm>
            <a:off x="2204561" y="2160588"/>
            <a:ext cx="5542915" cy="3881437"/>
          </a:xfrm>
          <a:prstGeom prst="rect">
            <a:avLst/>
          </a:prstGeom>
          <a:noFill/>
          <a:ln>
            <a:noFill/>
          </a:ln>
        </p:spPr>
      </p:pic>
    </p:spTree>
  </p:cSld>
  <p:clrMapOvr>
    <a:masterClrMapping/>
  </p:clrMapOvr>
  <p:transition spd="slow">
    <p:fade thruBlk="1"/>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5"/>
          <p:cNvSpPr txBox="1"/>
          <p:nvPr>
            <p:ph idx="1" type="body"/>
          </p:nvPr>
        </p:nvSpPr>
        <p:spPr>
          <a:xfrm>
            <a:off x="372534" y="527732"/>
            <a:ext cx="8596668" cy="11051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Cliquons sur suivant dans la fenêtre Sélectionner des fonctionnalités.</a:t>
            </a:r>
            <a:endParaRPr/>
          </a:p>
          <a:p>
            <a:pPr indent="-342900" lvl="0" marL="342900" rtl="0" algn="l">
              <a:spcBef>
                <a:spcPts val="1000"/>
              </a:spcBef>
              <a:spcAft>
                <a:spcPts val="0"/>
              </a:spcAft>
              <a:buSzPts val="1440"/>
              <a:buChar char="►"/>
            </a:pPr>
            <a:r>
              <a:rPr lang="fr-FR"/>
              <a:t>Dans la fenêtre de confirmation, cliquez sur installer.</a:t>
            </a:r>
            <a:endParaRPr/>
          </a:p>
          <a:p>
            <a:pPr indent="0" lvl="0" marL="0" rtl="0" algn="l">
              <a:spcBef>
                <a:spcPts val="1000"/>
              </a:spcBef>
              <a:spcAft>
                <a:spcPts val="0"/>
              </a:spcAft>
              <a:buSzPts val="1440"/>
              <a:buNone/>
            </a:pPr>
            <a:r>
              <a:t/>
            </a:r>
            <a:endParaRPr/>
          </a:p>
        </p:txBody>
      </p:sp>
      <p:pic>
        <p:nvPicPr>
          <p:cNvPr id="440" name="Google Shape;440;p65"/>
          <p:cNvPicPr preferRelativeResize="0"/>
          <p:nvPr/>
        </p:nvPicPr>
        <p:blipFill rotWithShape="1">
          <a:blip r:embed="rId3">
            <a:alphaModFix/>
          </a:blip>
          <a:srcRect b="0" l="0" r="0" t="0"/>
          <a:stretch/>
        </p:blipFill>
        <p:spPr>
          <a:xfrm>
            <a:off x="890259" y="1632857"/>
            <a:ext cx="7561217" cy="3221446"/>
          </a:xfrm>
          <a:prstGeom prst="rect">
            <a:avLst/>
          </a:prstGeom>
          <a:noFill/>
          <a:ln>
            <a:noFill/>
          </a:ln>
        </p:spPr>
      </p:pic>
      <p:sp>
        <p:nvSpPr>
          <p:cNvPr id="441" name="Google Shape;441;p65"/>
          <p:cNvSpPr/>
          <p:nvPr/>
        </p:nvSpPr>
        <p:spPr>
          <a:xfrm>
            <a:off x="890260" y="4854303"/>
            <a:ext cx="8863340" cy="1571712"/>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fr-FR" sz="1800">
                <a:solidFill>
                  <a:schemeClr val="dk1"/>
                </a:solidFill>
                <a:latin typeface="Calibri"/>
                <a:ea typeface="Calibri"/>
                <a:cs typeface="Calibri"/>
                <a:sym typeface="Calibri"/>
              </a:rPr>
              <a:t>Dans l’interface Windows, effectuons un clic droit à un endroit où il y’a pas de tuiles puis cliquons sur toutes les applications</a:t>
            </a:r>
            <a:endParaRPr sz="1600">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Cliquons sur DHCP</a:t>
            </a:r>
            <a:endParaRPr sz="1600">
              <a:solidFill>
                <a:schemeClr val="dk1"/>
              </a:solidFill>
              <a:latin typeface="Calibri"/>
              <a:ea typeface="Calibri"/>
              <a:cs typeface="Calibri"/>
              <a:sym typeface="Calibri"/>
            </a:endParaRPr>
          </a:p>
          <a:p>
            <a:pPr indent="0" lvl="0" marL="0" marR="0" rtl="0" algn="l">
              <a:lnSpc>
                <a:spcPct val="115000"/>
              </a:lnSpc>
              <a:spcBef>
                <a:spcPts val="800"/>
              </a:spcBef>
              <a:spcAft>
                <a:spcPts val="0"/>
              </a:spcAft>
              <a:buNone/>
            </a:pPr>
            <a:r>
              <a:rPr lang="fr-FR" sz="1800">
                <a:solidFill>
                  <a:schemeClr val="dk1"/>
                </a:solidFill>
                <a:latin typeface="Calibri"/>
                <a:ea typeface="Calibri"/>
                <a:cs typeface="Calibri"/>
                <a:sym typeface="Calibri"/>
              </a:rPr>
              <a:t>Le rôle est maintenant installé mais il n’est pas configuré.</a:t>
            </a:r>
            <a:endParaRPr sz="1600">
              <a:solidFill>
                <a:schemeClr val="dk1"/>
              </a:solidFill>
              <a:latin typeface="Calibri"/>
              <a:ea typeface="Calibri"/>
              <a:cs typeface="Calibri"/>
              <a:sym typeface="Calibri"/>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xEl>
                                              <p:pRg end="0" st="0"/>
                                            </p:txEl>
                                          </p:spTgt>
                                        </p:tgtEl>
                                        <p:attrNameLst>
                                          <p:attrName>style.visibility</p:attrName>
                                        </p:attrNameLst>
                                      </p:cBhvr>
                                      <p:to>
                                        <p:strVal val="visible"/>
                                      </p:to>
                                    </p:set>
                                    <p:animEffect filter="fade" transition="in">
                                      <p:cBhvr>
                                        <p:cTn dur="1000"/>
                                        <p:tgtEl>
                                          <p:spTgt spid="4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xEl>
                                              <p:pRg end="1" st="1"/>
                                            </p:txEl>
                                          </p:spTgt>
                                        </p:tgtEl>
                                        <p:attrNameLst>
                                          <p:attrName>style.visibility</p:attrName>
                                        </p:attrNameLst>
                                      </p:cBhvr>
                                      <p:to>
                                        <p:strVal val="visible"/>
                                      </p:to>
                                    </p:set>
                                    <p:animEffect filter="fade" transition="in">
                                      <p:cBhvr>
                                        <p:cTn dur="1000"/>
                                        <p:tgtEl>
                                          <p:spTgt spid="4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xEl>
                                              <p:pRg end="2" st="2"/>
                                            </p:txEl>
                                          </p:spTgt>
                                        </p:tgtEl>
                                        <p:attrNameLst>
                                          <p:attrName>style.visibility</p:attrName>
                                        </p:attrNameLst>
                                      </p:cBhvr>
                                      <p:to>
                                        <p:strVal val="visible"/>
                                      </p:to>
                                    </p:set>
                                    <p:animEffect filter="fade" transition="in">
                                      <p:cBhvr>
                                        <p:cTn dur="1000"/>
                                        <p:tgtEl>
                                          <p:spTgt spid="4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1000"/>
                                        <p:tgtEl>
                                          <p:spTgt spid="4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000"/>
                                        <p:tgtEl>
                                          <p:spTgt spid="4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fr-FR"/>
              <a:t>AJOUT D’UNE NOUVELLE ETENDUE</a:t>
            </a:r>
            <a:br>
              <a:rPr b="1" lang="fr-FR"/>
            </a:br>
            <a:endParaRPr/>
          </a:p>
        </p:txBody>
      </p:sp>
      <p:pic>
        <p:nvPicPr>
          <p:cNvPr descr="C:\Users\DRA\Pictures\W2012\dhcp19.PNG" id="447" name="Google Shape;447;p66"/>
          <p:cNvPicPr preferRelativeResize="0"/>
          <p:nvPr>
            <p:ph idx="1" type="body"/>
          </p:nvPr>
        </p:nvPicPr>
        <p:blipFill rotWithShape="1">
          <a:blip r:embed="rId3">
            <a:alphaModFix/>
          </a:blip>
          <a:srcRect b="0" l="0" r="0" t="0"/>
          <a:stretch/>
        </p:blipFill>
        <p:spPr>
          <a:xfrm>
            <a:off x="1088571" y="1585219"/>
            <a:ext cx="6402399" cy="2181238"/>
          </a:xfrm>
          <a:prstGeom prst="rect">
            <a:avLst/>
          </a:prstGeom>
          <a:noFill/>
          <a:ln>
            <a:noFill/>
          </a:ln>
        </p:spPr>
      </p:pic>
      <p:sp>
        <p:nvSpPr>
          <p:cNvPr id="448" name="Google Shape;448;p66"/>
          <p:cNvSpPr/>
          <p:nvPr/>
        </p:nvSpPr>
        <p:spPr>
          <a:xfrm>
            <a:off x="677334" y="4450697"/>
            <a:ext cx="7346334" cy="1047979"/>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fr-FR" sz="1800">
                <a:solidFill>
                  <a:schemeClr val="dk1"/>
                </a:solidFill>
                <a:latin typeface="Calibri"/>
                <a:ea typeface="Calibri"/>
                <a:cs typeface="Calibri"/>
                <a:sym typeface="Calibri"/>
              </a:rPr>
              <a:t>Une étendue DHCP est constituée d’un pool d’adresse IP (exemple, 192.168.10.100 a 192.168.10.200). Lorsqu’un client effectue une demande, le serveur DHCP lui attribue une des adresses du pool.</a:t>
            </a:r>
            <a:endParaRPr sz="1600">
              <a:solidFill>
                <a:schemeClr val="dk1"/>
              </a:solidFill>
              <a:latin typeface="Calibri"/>
              <a:ea typeface="Calibri"/>
              <a:cs typeface="Calibri"/>
              <a:sym typeface="Calibri"/>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000"/>
                                        <p:tgtEl>
                                          <p:spTgt spid="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000"/>
                                        <p:tgtEl>
                                          <p:spTgt spid="4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i="1" lang="fr-FR"/>
              <a:t>Configuration de l’étendue</a:t>
            </a:r>
            <a:br>
              <a:rPr b="1" i="1" lang="fr-FR"/>
            </a:br>
            <a:endParaRPr/>
          </a:p>
        </p:txBody>
      </p:sp>
      <p:sp>
        <p:nvSpPr>
          <p:cNvPr id="454" name="Google Shape;454;p6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fr-FR"/>
              <a:t> </a:t>
            </a:r>
            <a:endParaRPr/>
          </a:p>
          <a:p>
            <a:pPr indent="-342900" lvl="0" marL="342900" rtl="0" algn="l">
              <a:spcBef>
                <a:spcPts val="1000"/>
              </a:spcBef>
              <a:spcAft>
                <a:spcPts val="0"/>
              </a:spcAft>
              <a:buSzPts val="1440"/>
              <a:buChar char="►"/>
            </a:pPr>
            <a:r>
              <a:rPr lang="fr-FR"/>
              <a:t>Développez le nœud Ada.local puis IPv4</a:t>
            </a:r>
            <a:endParaRPr/>
          </a:p>
          <a:p>
            <a:pPr indent="-342900" lvl="0" marL="342900" rtl="0" algn="l">
              <a:spcBef>
                <a:spcPts val="1000"/>
              </a:spcBef>
              <a:spcAft>
                <a:spcPts val="0"/>
              </a:spcAft>
              <a:buSzPts val="1440"/>
              <a:buChar char="►"/>
            </a:pPr>
            <a:r>
              <a:rPr lang="fr-FR"/>
              <a:t>Effectuez un clic droit sur IPv4 puis sélectionnez Nouvelle étendue.</a:t>
            </a:r>
            <a:endParaRPr/>
          </a:p>
          <a:p>
            <a:pPr indent="-342900" lvl="0" marL="342900" rtl="0" algn="l">
              <a:spcBef>
                <a:spcPts val="1000"/>
              </a:spcBef>
              <a:spcAft>
                <a:spcPts val="0"/>
              </a:spcAft>
              <a:buSzPts val="1440"/>
              <a:buChar char="►"/>
            </a:pPr>
            <a:r>
              <a:rPr lang="fr-FR"/>
              <a:t>L’assistant de création de la nouvelle étendue se lance.</a:t>
            </a:r>
            <a:endParaRPr/>
          </a:p>
          <a:p>
            <a:pPr indent="-342900" lvl="0" marL="342900" rtl="0" algn="l">
              <a:spcBef>
                <a:spcPts val="1000"/>
              </a:spcBef>
              <a:spcAft>
                <a:spcPts val="0"/>
              </a:spcAft>
              <a:buSzPts val="1440"/>
              <a:buChar char="►"/>
            </a:pPr>
            <a:r>
              <a:rPr lang="fr-FR"/>
              <a:t>Saisissez Etendue EDMSA dans le champ NOM.</a:t>
            </a:r>
            <a:endParaRPr/>
          </a:p>
          <a:p>
            <a:pPr indent="-342900" lvl="0" marL="342900" rtl="0" algn="l">
              <a:spcBef>
                <a:spcPts val="1000"/>
              </a:spcBef>
              <a:spcAft>
                <a:spcPts val="0"/>
              </a:spcAft>
              <a:buSzPts val="1440"/>
              <a:buChar char="►"/>
            </a:pPr>
            <a:r>
              <a:rPr lang="fr-FR"/>
              <a:t>La plage d’adresse distribuable va de 192.168.10.100 à 192.168.10.254</a:t>
            </a:r>
            <a:endParaRPr/>
          </a:p>
          <a:p>
            <a:pPr indent="-342900" lvl="0" marL="342900" rtl="0" algn="l">
              <a:spcBef>
                <a:spcPts val="1000"/>
              </a:spcBef>
              <a:spcAft>
                <a:spcPts val="0"/>
              </a:spcAft>
              <a:buSzPts val="1440"/>
              <a:buChar char="►"/>
            </a:pPr>
            <a:r>
              <a:rPr lang="fr-FR"/>
              <a:t>Saisissez 192.168.10.100 dans Adresse IP de début et 192.168.10.254 dans Adresse IP de fin.</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xEl>
                                              <p:pRg end="0" st="0"/>
                                            </p:txEl>
                                          </p:spTgt>
                                        </p:tgtEl>
                                        <p:attrNameLst>
                                          <p:attrName>style.visibility</p:attrName>
                                        </p:attrNameLst>
                                      </p:cBhvr>
                                      <p:to>
                                        <p:strVal val="visible"/>
                                      </p:to>
                                    </p:set>
                                    <p:animEffect filter="fade" transition="in">
                                      <p:cBhvr>
                                        <p:cTn dur="1000"/>
                                        <p:tgtEl>
                                          <p:spTgt spid="4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xEl>
                                              <p:pRg end="1" st="1"/>
                                            </p:txEl>
                                          </p:spTgt>
                                        </p:tgtEl>
                                        <p:attrNameLst>
                                          <p:attrName>style.visibility</p:attrName>
                                        </p:attrNameLst>
                                      </p:cBhvr>
                                      <p:to>
                                        <p:strVal val="visible"/>
                                      </p:to>
                                    </p:set>
                                    <p:animEffect filter="fade" transition="in">
                                      <p:cBhvr>
                                        <p:cTn dur="1000"/>
                                        <p:tgtEl>
                                          <p:spTgt spid="45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xEl>
                                              <p:pRg end="2" st="2"/>
                                            </p:txEl>
                                          </p:spTgt>
                                        </p:tgtEl>
                                        <p:attrNameLst>
                                          <p:attrName>style.visibility</p:attrName>
                                        </p:attrNameLst>
                                      </p:cBhvr>
                                      <p:to>
                                        <p:strVal val="visible"/>
                                      </p:to>
                                    </p:set>
                                    <p:animEffect filter="fade" transition="in">
                                      <p:cBhvr>
                                        <p:cTn dur="1000"/>
                                        <p:tgtEl>
                                          <p:spTgt spid="45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xEl>
                                              <p:pRg end="3" st="3"/>
                                            </p:txEl>
                                          </p:spTgt>
                                        </p:tgtEl>
                                        <p:attrNameLst>
                                          <p:attrName>style.visibility</p:attrName>
                                        </p:attrNameLst>
                                      </p:cBhvr>
                                      <p:to>
                                        <p:strVal val="visible"/>
                                      </p:to>
                                    </p:set>
                                    <p:animEffect filter="fade" transition="in">
                                      <p:cBhvr>
                                        <p:cTn dur="1000"/>
                                        <p:tgtEl>
                                          <p:spTgt spid="45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xEl>
                                              <p:pRg end="4" st="4"/>
                                            </p:txEl>
                                          </p:spTgt>
                                        </p:tgtEl>
                                        <p:attrNameLst>
                                          <p:attrName>style.visibility</p:attrName>
                                        </p:attrNameLst>
                                      </p:cBhvr>
                                      <p:to>
                                        <p:strVal val="visible"/>
                                      </p:to>
                                    </p:set>
                                    <p:animEffect filter="fade" transition="in">
                                      <p:cBhvr>
                                        <p:cTn dur="1000"/>
                                        <p:tgtEl>
                                          <p:spTgt spid="45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xEl>
                                              <p:pRg end="5" st="5"/>
                                            </p:txEl>
                                          </p:spTgt>
                                        </p:tgtEl>
                                        <p:attrNameLst>
                                          <p:attrName>style.visibility</p:attrName>
                                        </p:attrNameLst>
                                      </p:cBhvr>
                                      <p:to>
                                        <p:strVal val="visible"/>
                                      </p:to>
                                    </p:set>
                                    <p:animEffect filter="fade" transition="in">
                                      <p:cBhvr>
                                        <p:cTn dur="1000"/>
                                        <p:tgtEl>
                                          <p:spTgt spid="45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xEl>
                                              <p:pRg end="6" st="6"/>
                                            </p:txEl>
                                          </p:spTgt>
                                        </p:tgtEl>
                                        <p:attrNameLst>
                                          <p:attrName>style.visibility</p:attrName>
                                        </p:attrNameLst>
                                      </p:cBhvr>
                                      <p:to>
                                        <p:strVal val="visible"/>
                                      </p:to>
                                    </p:set>
                                    <p:animEffect filter="fade" transition="in">
                                      <p:cBhvr>
                                        <p:cTn dur="1000"/>
                                        <p:tgtEl>
                                          <p:spTgt spid="45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xEl>
                                              <p:pRg end="7" st="7"/>
                                            </p:txEl>
                                          </p:spTgt>
                                        </p:tgtEl>
                                        <p:attrNameLst>
                                          <p:attrName>style.visibility</p:attrName>
                                        </p:attrNameLst>
                                      </p:cBhvr>
                                      <p:to>
                                        <p:strVal val="visible"/>
                                      </p:to>
                                    </p:set>
                                    <p:animEffect filter="fade" transition="in">
                                      <p:cBhvr>
                                        <p:cTn dur="1000"/>
                                        <p:tgtEl>
                                          <p:spTgt spid="45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id="459" name="Google Shape;459;p68"/>
          <p:cNvPicPr preferRelativeResize="0"/>
          <p:nvPr>
            <p:ph idx="1" type="body"/>
          </p:nvPr>
        </p:nvPicPr>
        <p:blipFill rotWithShape="1">
          <a:blip r:embed="rId3">
            <a:alphaModFix/>
          </a:blip>
          <a:srcRect b="0" l="0" r="0" t="0"/>
          <a:stretch/>
        </p:blipFill>
        <p:spPr>
          <a:xfrm>
            <a:off x="2756270" y="2160588"/>
            <a:ext cx="4439497" cy="3881437"/>
          </a:xfrm>
          <a:prstGeom prst="rect">
            <a:avLst/>
          </a:prstGeom>
          <a:noFill/>
          <a:ln>
            <a:noFill/>
          </a:ln>
        </p:spPr>
      </p:pic>
    </p:spTree>
  </p:cSld>
  <p:clrMapOvr>
    <a:masterClrMapping/>
  </p:clrMapOvr>
  <p:transition spd="slow">
    <p:fade thruBlk="1"/>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Dans la forêt des exclusions, cliquons sur suivant.</a:t>
            </a:r>
            <a:endParaRPr/>
          </a:p>
          <a:p>
            <a:pPr indent="-342900" lvl="0" marL="342900" rtl="0" algn="l">
              <a:spcBef>
                <a:spcPts val="1000"/>
              </a:spcBef>
              <a:spcAft>
                <a:spcPts val="0"/>
              </a:spcAft>
              <a:buSzPts val="1440"/>
              <a:buChar char="►"/>
            </a:pPr>
            <a:r>
              <a:rPr lang="fr-FR"/>
              <a:t>Laissons la durée de bail par défaut, le choix est relatif aux besoins de l’Ada.</a:t>
            </a:r>
            <a:endParaRPr/>
          </a:p>
          <a:p>
            <a:pPr indent="-342900" lvl="0" marL="342900" rtl="0" algn="l">
              <a:spcBef>
                <a:spcPts val="1000"/>
              </a:spcBef>
              <a:spcAft>
                <a:spcPts val="0"/>
              </a:spcAft>
              <a:buSzPts val="1440"/>
              <a:buChar char="►"/>
            </a:pPr>
            <a:r>
              <a:rPr lang="fr-FR"/>
              <a:t>Dans la fenêtre configuration des paramètres DHCP, cliquons sur Suivant.</a:t>
            </a:r>
            <a:endParaRPr/>
          </a:p>
          <a:p>
            <a:pPr indent="-342900" lvl="0" marL="342900" rtl="0" algn="l">
              <a:spcBef>
                <a:spcPts val="1000"/>
              </a:spcBef>
              <a:spcAft>
                <a:spcPts val="0"/>
              </a:spcAft>
              <a:buSzPts val="1440"/>
              <a:buChar char="►"/>
            </a:pPr>
            <a:r>
              <a:rPr lang="fr-FR"/>
              <a:t>Laissons le champ passerelle par défaut vide et cliquons sur suivant.</a:t>
            </a:r>
            <a:endParaRPr/>
          </a:p>
          <a:p>
            <a:pPr indent="-342900" lvl="0" marL="342900" rtl="0" algn="l">
              <a:spcBef>
                <a:spcPts val="1000"/>
              </a:spcBef>
              <a:spcAft>
                <a:spcPts val="0"/>
              </a:spcAft>
              <a:buSzPts val="1440"/>
              <a:buChar char="►"/>
            </a:pPr>
            <a:r>
              <a:rPr lang="fr-FR"/>
              <a:t>Saisissons l’adresse IP du serveur DNS (192.168.10.201) puis sur Ajouter.</a:t>
            </a:r>
            <a:endParaRPr/>
          </a:p>
          <a:p>
            <a:pPr indent="-342900" lvl="0" marL="342900" rtl="0" algn="l">
              <a:spcBef>
                <a:spcPts val="1000"/>
              </a:spcBef>
              <a:spcAft>
                <a:spcPts val="0"/>
              </a:spcAft>
              <a:buSzPts val="1440"/>
              <a:buChar char="►"/>
            </a:pPr>
            <a:r>
              <a:rPr lang="fr-FR"/>
              <a:t>Dans la fenêtre des serveurs WINS cliquons sur suivant.</a:t>
            </a:r>
            <a:endParaRPr/>
          </a:p>
          <a:p>
            <a:pPr indent="-342900" lvl="0" marL="342900" rtl="0" algn="l">
              <a:spcBef>
                <a:spcPts val="1000"/>
              </a:spcBef>
              <a:spcAft>
                <a:spcPts val="0"/>
              </a:spcAft>
              <a:buSzPts val="1440"/>
              <a:buChar char="►"/>
            </a:pPr>
            <a:r>
              <a:rPr lang="fr-FR"/>
              <a:t>L’étendue est activée à la fin de l’assistance, laissons le choix par défaut.</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xEl>
                                              <p:pRg end="0" st="0"/>
                                            </p:txEl>
                                          </p:spTgt>
                                        </p:tgtEl>
                                        <p:attrNameLst>
                                          <p:attrName>style.visibility</p:attrName>
                                        </p:attrNameLst>
                                      </p:cBhvr>
                                      <p:to>
                                        <p:strVal val="visible"/>
                                      </p:to>
                                    </p:set>
                                    <p:animEffect filter="fade" transition="in">
                                      <p:cBhvr>
                                        <p:cTn dur="1000"/>
                                        <p:tgtEl>
                                          <p:spTgt spid="4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xEl>
                                              <p:pRg end="1" st="1"/>
                                            </p:txEl>
                                          </p:spTgt>
                                        </p:tgtEl>
                                        <p:attrNameLst>
                                          <p:attrName>style.visibility</p:attrName>
                                        </p:attrNameLst>
                                      </p:cBhvr>
                                      <p:to>
                                        <p:strVal val="visible"/>
                                      </p:to>
                                    </p:set>
                                    <p:animEffect filter="fade" transition="in">
                                      <p:cBhvr>
                                        <p:cTn dur="1000"/>
                                        <p:tgtEl>
                                          <p:spTgt spid="4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xEl>
                                              <p:pRg end="2" st="2"/>
                                            </p:txEl>
                                          </p:spTgt>
                                        </p:tgtEl>
                                        <p:attrNameLst>
                                          <p:attrName>style.visibility</p:attrName>
                                        </p:attrNameLst>
                                      </p:cBhvr>
                                      <p:to>
                                        <p:strVal val="visible"/>
                                      </p:to>
                                    </p:set>
                                    <p:animEffect filter="fade" transition="in">
                                      <p:cBhvr>
                                        <p:cTn dur="1000"/>
                                        <p:tgtEl>
                                          <p:spTgt spid="4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xEl>
                                              <p:pRg end="3" st="3"/>
                                            </p:txEl>
                                          </p:spTgt>
                                        </p:tgtEl>
                                        <p:attrNameLst>
                                          <p:attrName>style.visibility</p:attrName>
                                        </p:attrNameLst>
                                      </p:cBhvr>
                                      <p:to>
                                        <p:strVal val="visible"/>
                                      </p:to>
                                    </p:set>
                                    <p:animEffect filter="fade" transition="in">
                                      <p:cBhvr>
                                        <p:cTn dur="1000"/>
                                        <p:tgtEl>
                                          <p:spTgt spid="4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xEl>
                                              <p:pRg end="4" st="4"/>
                                            </p:txEl>
                                          </p:spTgt>
                                        </p:tgtEl>
                                        <p:attrNameLst>
                                          <p:attrName>style.visibility</p:attrName>
                                        </p:attrNameLst>
                                      </p:cBhvr>
                                      <p:to>
                                        <p:strVal val="visible"/>
                                      </p:to>
                                    </p:set>
                                    <p:animEffect filter="fade" transition="in">
                                      <p:cBhvr>
                                        <p:cTn dur="1000"/>
                                        <p:tgtEl>
                                          <p:spTgt spid="4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xEl>
                                              <p:pRg end="5" st="5"/>
                                            </p:txEl>
                                          </p:spTgt>
                                        </p:tgtEl>
                                        <p:attrNameLst>
                                          <p:attrName>style.visibility</p:attrName>
                                        </p:attrNameLst>
                                      </p:cBhvr>
                                      <p:to>
                                        <p:strVal val="visible"/>
                                      </p:to>
                                    </p:set>
                                    <p:animEffect filter="fade" transition="in">
                                      <p:cBhvr>
                                        <p:cTn dur="1000"/>
                                        <p:tgtEl>
                                          <p:spTgt spid="4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xEl>
                                              <p:pRg end="6" st="6"/>
                                            </p:txEl>
                                          </p:spTgt>
                                        </p:tgtEl>
                                        <p:attrNameLst>
                                          <p:attrName>style.visibility</p:attrName>
                                        </p:attrNameLst>
                                      </p:cBhvr>
                                      <p:to>
                                        <p:strVal val="visible"/>
                                      </p:to>
                                    </p:set>
                                    <p:animEffect filter="fade" transition="in">
                                      <p:cBhvr>
                                        <p:cTn dur="1000"/>
                                        <p:tgtEl>
                                          <p:spTgt spid="46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xEl>
                                              <p:pRg end="7" st="7"/>
                                            </p:txEl>
                                          </p:spTgt>
                                        </p:tgtEl>
                                        <p:attrNameLst>
                                          <p:attrName>style.visibility</p:attrName>
                                        </p:attrNameLst>
                                      </p:cBhvr>
                                      <p:to>
                                        <p:strVal val="visible"/>
                                      </p:to>
                                    </p:set>
                                    <p:animEffect filter="fade" transition="in">
                                      <p:cBhvr>
                                        <p:cTn dur="1000"/>
                                        <p:tgtEl>
                                          <p:spTgt spid="46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pic>
        <p:nvPicPr>
          <p:cNvPr id="469" name="Google Shape;469;p70"/>
          <p:cNvPicPr preferRelativeResize="0"/>
          <p:nvPr>
            <p:ph idx="1" type="body"/>
          </p:nvPr>
        </p:nvPicPr>
        <p:blipFill rotWithShape="1">
          <a:blip r:embed="rId3">
            <a:alphaModFix/>
          </a:blip>
          <a:srcRect b="0" l="0" r="0" t="0"/>
          <a:stretch/>
        </p:blipFill>
        <p:spPr>
          <a:xfrm>
            <a:off x="979715" y="519211"/>
            <a:ext cx="6407045" cy="4479698"/>
          </a:xfrm>
          <a:prstGeom prst="rect">
            <a:avLst/>
          </a:prstGeom>
          <a:noFill/>
          <a:ln>
            <a:noFill/>
          </a:ln>
        </p:spPr>
      </p:pic>
      <p:sp>
        <p:nvSpPr>
          <p:cNvPr id="470" name="Google Shape;470;p70"/>
          <p:cNvSpPr/>
          <p:nvPr/>
        </p:nvSpPr>
        <p:spPr>
          <a:xfrm>
            <a:off x="979715" y="5770815"/>
            <a:ext cx="5854897" cy="392159"/>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fr-FR" sz="1800">
                <a:solidFill>
                  <a:schemeClr val="dk1"/>
                </a:solidFill>
                <a:latin typeface="Calibri"/>
                <a:ea typeface="Calibri"/>
                <a:cs typeface="Calibri"/>
                <a:sym typeface="Calibri"/>
              </a:rPr>
              <a:t>En suite liquons sur Terminer pour fermer l’assistant.</a:t>
            </a:r>
            <a:endParaRPr sz="16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Trebuchet MS"/>
              <a:buNone/>
            </a:pPr>
            <a:r>
              <a:rPr b="1" i="1" lang="fr-FR"/>
              <a:t>Configuration des options dans le DHCP</a:t>
            </a:r>
            <a:br>
              <a:rPr b="1" i="1" lang="fr-FR"/>
            </a:br>
            <a:endParaRPr/>
          </a:p>
        </p:txBody>
      </p:sp>
      <p:sp>
        <p:nvSpPr>
          <p:cNvPr id="476" name="Google Shape;476;p7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fr-FR"/>
              <a:t>Les options permettent de distribuer des options supplémentaires dans le bail, telles que le nom de domaine DNS et l’adresse du serveur DNS. Trois types d’options existent :</a:t>
            </a:r>
            <a:endParaRPr/>
          </a:p>
          <a:p>
            <a:pPr indent="-342900" lvl="0" marL="342900" rtl="0" algn="l">
              <a:spcBef>
                <a:spcPts val="1000"/>
              </a:spcBef>
              <a:spcAft>
                <a:spcPts val="0"/>
              </a:spcAft>
              <a:buSzPts val="1440"/>
              <a:buChar char="►"/>
            </a:pPr>
            <a:r>
              <a:rPr lang="fr-FR"/>
              <a:t>Les options serveur: Elles s’appliquent à toutes les étendues du serveur ainsi qu’aux réservations. Si la même option est configurée dans les options d’étendue, c’est cette dernière qui l’emporte, l’option serveur est donc ignorée.</a:t>
            </a:r>
            <a:endParaRPr/>
          </a:p>
          <a:p>
            <a:pPr indent="-342900" lvl="0" marL="342900" rtl="0" algn="l">
              <a:spcBef>
                <a:spcPts val="1000"/>
              </a:spcBef>
              <a:spcAft>
                <a:spcPts val="0"/>
              </a:spcAft>
              <a:buSzPts val="1440"/>
              <a:buChar char="►"/>
            </a:pPr>
            <a:r>
              <a:rPr lang="fr-FR"/>
              <a:t>Les options de l’étendue: Elles s’appliquent uniquement à l’étendue. Chaque étendue possède ses options, ces dernières peuvent être différentes d’une étendue à l’autre.</a:t>
            </a:r>
            <a:endParaRPr/>
          </a:p>
          <a:p>
            <a:pPr indent="-342900" lvl="0" marL="342900" rtl="0" algn="l">
              <a:spcBef>
                <a:spcPts val="1000"/>
              </a:spcBef>
              <a:spcAft>
                <a:spcPts val="0"/>
              </a:spcAft>
              <a:buSzPts val="1440"/>
              <a:buChar char="►"/>
            </a:pPr>
            <a:r>
              <a:rPr lang="fr-FR"/>
              <a:t>Les options de réservation: Elles s’appliquent uniquement aux réservations. Chaque réservation peut avoir des options différentes.</a:t>
            </a:r>
            <a:endParaRPr/>
          </a:p>
          <a:p>
            <a:pPr indent="-251460" lvl="0" marL="342900" rtl="0" algn="l">
              <a:spcBef>
                <a:spcPts val="1000"/>
              </a:spcBef>
              <a:spcAft>
                <a:spcPts val="0"/>
              </a:spcAft>
              <a:buSzPts val="1440"/>
              <a:buNone/>
            </a:pPr>
            <a:r>
              <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xEl>
                                              <p:pRg end="0" st="0"/>
                                            </p:txEl>
                                          </p:spTgt>
                                        </p:tgtEl>
                                        <p:attrNameLst>
                                          <p:attrName>style.visibility</p:attrName>
                                        </p:attrNameLst>
                                      </p:cBhvr>
                                      <p:to>
                                        <p:strVal val="visible"/>
                                      </p:to>
                                    </p:set>
                                    <p:animEffect filter="fade" transition="in">
                                      <p:cBhvr>
                                        <p:cTn dur="1000"/>
                                        <p:tgtEl>
                                          <p:spTgt spid="4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xEl>
                                              <p:pRg end="1" st="1"/>
                                            </p:txEl>
                                          </p:spTgt>
                                        </p:tgtEl>
                                        <p:attrNameLst>
                                          <p:attrName>style.visibility</p:attrName>
                                        </p:attrNameLst>
                                      </p:cBhvr>
                                      <p:to>
                                        <p:strVal val="visible"/>
                                      </p:to>
                                    </p:set>
                                    <p:animEffect filter="fade" transition="in">
                                      <p:cBhvr>
                                        <p:cTn dur="1000"/>
                                        <p:tgtEl>
                                          <p:spTgt spid="4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xEl>
                                              <p:pRg end="2" st="2"/>
                                            </p:txEl>
                                          </p:spTgt>
                                        </p:tgtEl>
                                        <p:attrNameLst>
                                          <p:attrName>style.visibility</p:attrName>
                                        </p:attrNameLst>
                                      </p:cBhvr>
                                      <p:to>
                                        <p:strVal val="visible"/>
                                      </p:to>
                                    </p:set>
                                    <p:animEffect filter="fade" transition="in">
                                      <p:cBhvr>
                                        <p:cTn dur="1000"/>
                                        <p:tgtEl>
                                          <p:spTgt spid="4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xEl>
                                              <p:pRg end="3" st="3"/>
                                            </p:txEl>
                                          </p:spTgt>
                                        </p:tgtEl>
                                        <p:attrNameLst>
                                          <p:attrName>style.visibility</p:attrName>
                                        </p:attrNameLst>
                                      </p:cBhvr>
                                      <p:to>
                                        <p:strVal val="visible"/>
                                      </p:to>
                                    </p:set>
                                    <p:animEffect filter="fade" transition="in">
                                      <p:cBhvr>
                                        <p:cTn dur="1000"/>
                                        <p:tgtEl>
                                          <p:spTgt spid="4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xEl>
                                              <p:pRg end="4" st="4"/>
                                            </p:txEl>
                                          </p:spTgt>
                                        </p:tgtEl>
                                        <p:attrNameLst>
                                          <p:attrName>style.visibility</p:attrName>
                                        </p:attrNameLst>
                                      </p:cBhvr>
                                      <p:to>
                                        <p:strVal val="visible"/>
                                      </p:to>
                                    </p:set>
                                    <p:animEffect filter="fade" transition="in">
                                      <p:cBhvr>
                                        <p:cTn dur="1000"/>
                                        <p:tgtEl>
                                          <p:spTgt spid="47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xEl>
                                              <p:pRg end="5" st="5"/>
                                            </p:txEl>
                                          </p:spTgt>
                                        </p:tgtEl>
                                        <p:attrNameLst>
                                          <p:attrName>style.visibility</p:attrName>
                                        </p:attrNameLst>
                                      </p:cBhvr>
                                      <p:to>
                                        <p:strVal val="visible"/>
                                      </p:to>
                                    </p:set>
                                    <p:animEffect filter="fade" transition="in">
                                      <p:cBhvr>
                                        <p:cTn dur="1000"/>
                                        <p:tgtEl>
                                          <p:spTgt spid="47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fr-FR"/>
              <a:t>LE ROLE SERVICE D’IMPRESSION</a:t>
            </a:r>
            <a:br>
              <a:rPr b="1" lang="fr-FR"/>
            </a:br>
            <a:endParaRPr/>
          </a:p>
        </p:txBody>
      </p:sp>
      <p:sp>
        <p:nvSpPr>
          <p:cNvPr id="482" name="Google Shape;482;p7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fr-FR"/>
              <a:t>La console Gestion de l’impression est installée par l’intermédiaire du Gestionnaire de serveur et permet l’administration des imprimantes et serveurs d’impression.</a:t>
            </a:r>
            <a:endParaRPr/>
          </a:p>
          <a:p>
            <a:pPr indent="-342900" lvl="0" marL="342900" rtl="0" algn="l">
              <a:spcBef>
                <a:spcPts val="1000"/>
              </a:spcBef>
              <a:spcAft>
                <a:spcPts val="0"/>
              </a:spcAft>
              <a:buSzPts val="1440"/>
              <a:buChar char="►"/>
            </a:pPr>
            <a:r>
              <a:rPr lang="fr-FR"/>
              <a:t>Des informations détaillées en temps réel sur l’état de l’imprimante et serveurs d’impression connectés au réseau sont fournies par l’intermédiaire de ce rôle.</a:t>
            </a:r>
            <a:endParaRPr/>
          </a:p>
          <a:p>
            <a:pPr indent="-342900" lvl="0" marL="342900" rtl="0" algn="l">
              <a:spcBef>
                <a:spcPts val="1000"/>
              </a:spcBef>
              <a:spcAft>
                <a:spcPts val="0"/>
              </a:spcAft>
              <a:buSzPts val="1440"/>
              <a:buChar char="►"/>
            </a:pPr>
            <a:r>
              <a:rPr lang="fr-FR"/>
              <a:t>Ainsi, il est possible d’effectuer des opérations de maintenance et de diagnostic à distance. La surveillance des files d’attente ou la détection des imprimantes posant problème est également faite par la console. Pour les imprimantes qui nécessitent une attention particulière, des notifications par courrier électronique ou par des scripts peuvent être utilisés.</a:t>
            </a:r>
            <a:endParaRPr/>
          </a:p>
          <a:p>
            <a:pPr indent="-342900" lvl="0" marL="342900" rtl="0" algn="l">
              <a:spcBef>
                <a:spcPts val="1000"/>
              </a:spcBef>
              <a:spcAft>
                <a:spcPts val="0"/>
              </a:spcAft>
              <a:buSzPts val="1440"/>
              <a:buChar char="►"/>
            </a:pPr>
            <a:r>
              <a:rPr lang="fr-FR"/>
              <a:t>Le niveau de toner et de papier peut également être affiché pour les imprimantes qui fournissent une interface de gestion web.</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0" st="0"/>
                                            </p:txEl>
                                          </p:spTgt>
                                        </p:tgtEl>
                                        <p:attrNameLst>
                                          <p:attrName>style.visibility</p:attrName>
                                        </p:attrNameLst>
                                      </p:cBhvr>
                                      <p:to>
                                        <p:strVal val="visible"/>
                                      </p:to>
                                    </p:set>
                                    <p:animEffect filter="fade" transition="in">
                                      <p:cBhvr>
                                        <p:cTn dur="1000"/>
                                        <p:tgtEl>
                                          <p:spTgt spid="4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1" st="1"/>
                                            </p:txEl>
                                          </p:spTgt>
                                        </p:tgtEl>
                                        <p:attrNameLst>
                                          <p:attrName>style.visibility</p:attrName>
                                        </p:attrNameLst>
                                      </p:cBhvr>
                                      <p:to>
                                        <p:strVal val="visible"/>
                                      </p:to>
                                    </p:set>
                                    <p:animEffect filter="fade" transition="in">
                                      <p:cBhvr>
                                        <p:cTn dur="1000"/>
                                        <p:tgtEl>
                                          <p:spTgt spid="4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2" st="2"/>
                                            </p:txEl>
                                          </p:spTgt>
                                        </p:tgtEl>
                                        <p:attrNameLst>
                                          <p:attrName>style.visibility</p:attrName>
                                        </p:attrNameLst>
                                      </p:cBhvr>
                                      <p:to>
                                        <p:strVal val="visible"/>
                                      </p:to>
                                    </p:set>
                                    <p:animEffect filter="fade" transition="in">
                                      <p:cBhvr>
                                        <p:cTn dur="1000"/>
                                        <p:tgtEl>
                                          <p:spTgt spid="4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3" st="3"/>
                                            </p:txEl>
                                          </p:spTgt>
                                        </p:tgtEl>
                                        <p:attrNameLst>
                                          <p:attrName>style.visibility</p:attrName>
                                        </p:attrNameLst>
                                      </p:cBhvr>
                                      <p:to>
                                        <p:strVal val="visible"/>
                                      </p:to>
                                    </p:set>
                                    <p:animEffect filter="fade" transition="in">
                                      <p:cBhvr>
                                        <p:cTn dur="1000"/>
                                        <p:tgtEl>
                                          <p:spTgt spid="4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xEl>
                                              <p:pRg end="4" st="4"/>
                                            </p:txEl>
                                          </p:spTgt>
                                        </p:tgtEl>
                                        <p:attrNameLst>
                                          <p:attrName>style.visibility</p:attrName>
                                        </p:attrNameLst>
                                      </p:cBhvr>
                                      <p:to>
                                        <p:strVal val="visible"/>
                                      </p:to>
                                    </p:set>
                                    <p:animEffect filter="fade" transition="in">
                                      <p:cBhvr>
                                        <p:cTn dur="1000"/>
                                        <p:tgtEl>
                                          <p:spTgt spid="48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7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Trebuchet MS"/>
              <a:buNone/>
            </a:pPr>
            <a:r>
              <a:rPr b="1" lang="fr-FR"/>
              <a:t>AJOUT DU ROLE DE SERVICE D’IMPRESSION</a:t>
            </a:r>
            <a:br>
              <a:rPr b="1" lang="fr-FR"/>
            </a:br>
            <a:endParaRPr/>
          </a:p>
        </p:txBody>
      </p:sp>
      <p:sp>
        <p:nvSpPr>
          <p:cNvPr id="488" name="Google Shape;488;p7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Ouvrons une session en tant qu’administrateur sur SVR1KK.</a:t>
            </a:r>
            <a:endParaRPr/>
          </a:p>
          <a:p>
            <a:pPr indent="-342900" lvl="0" marL="342900" rtl="0" algn="l">
              <a:spcBef>
                <a:spcPts val="1000"/>
              </a:spcBef>
              <a:spcAft>
                <a:spcPts val="0"/>
              </a:spcAft>
              <a:buSzPts val="1440"/>
              <a:buChar char="►"/>
            </a:pPr>
            <a:r>
              <a:rPr lang="fr-FR"/>
              <a:t>Lançons la console Gestionnaire de serveur.</a:t>
            </a:r>
            <a:endParaRPr/>
          </a:p>
          <a:p>
            <a:pPr indent="-342900" lvl="0" marL="342900" rtl="0" algn="l">
              <a:spcBef>
                <a:spcPts val="1000"/>
              </a:spcBef>
              <a:spcAft>
                <a:spcPts val="0"/>
              </a:spcAft>
              <a:buSzPts val="1440"/>
              <a:buChar char="►"/>
            </a:pPr>
            <a:r>
              <a:rPr lang="fr-FR"/>
              <a:t>Cliquons sur Ajouter des rôles et des fonctionnalités</a:t>
            </a:r>
            <a:endParaRPr/>
          </a:p>
          <a:p>
            <a:pPr indent="-342900" lvl="0" marL="342900" rtl="0" algn="l">
              <a:spcBef>
                <a:spcPts val="1000"/>
              </a:spcBef>
              <a:spcAft>
                <a:spcPts val="0"/>
              </a:spcAft>
              <a:buSzPts val="1440"/>
              <a:buChar char="►"/>
            </a:pPr>
            <a:r>
              <a:rPr lang="fr-FR"/>
              <a:t>Dans la fenêtre sélectionner le type d’installation, laissez le choix par défaut puis cliquez deux fois sur suivant.</a:t>
            </a:r>
            <a:endParaRPr/>
          </a:p>
          <a:p>
            <a:pPr indent="-342900" lvl="0" marL="342900" rtl="0" algn="l">
              <a:spcBef>
                <a:spcPts val="1000"/>
              </a:spcBef>
              <a:spcAft>
                <a:spcPts val="0"/>
              </a:spcAft>
              <a:buSzPts val="1440"/>
              <a:buChar char="►"/>
            </a:pPr>
            <a:r>
              <a:rPr lang="fr-FR"/>
              <a:t>Cochons la case du rôle Service et suivons les étapes.</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500"/>
                                        <p:tgtEl>
                                          <p:spTgt spid="4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0" st="0"/>
                                            </p:txEl>
                                          </p:spTgt>
                                        </p:tgtEl>
                                        <p:attrNameLst>
                                          <p:attrName>style.visibility</p:attrName>
                                        </p:attrNameLst>
                                      </p:cBhvr>
                                      <p:to>
                                        <p:strVal val="visible"/>
                                      </p:to>
                                    </p:set>
                                    <p:animEffect filter="fade" transition="in">
                                      <p:cBhvr>
                                        <p:cTn dur="1000"/>
                                        <p:tgtEl>
                                          <p:spTgt spid="4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1" st="1"/>
                                            </p:txEl>
                                          </p:spTgt>
                                        </p:tgtEl>
                                        <p:attrNameLst>
                                          <p:attrName>style.visibility</p:attrName>
                                        </p:attrNameLst>
                                      </p:cBhvr>
                                      <p:to>
                                        <p:strVal val="visible"/>
                                      </p:to>
                                    </p:set>
                                    <p:animEffect filter="fade" transition="in">
                                      <p:cBhvr>
                                        <p:cTn dur="1000"/>
                                        <p:tgtEl>
                                          <p:spTgt spid="4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2" st="2"/>
                                            </p:txEl>
                                          </p:spTgt>
                                        </p:tgtEl>
                                        <p:attrNameLst>
                                          <p:attrName>style.visibility</p:attrName>
                                        </p:attrNameLst>
                                      </p:cBhvr>
                                      <p:to>
                                        <p:strVal val="visible"/>
                                      </p:to>
                                    </p:set>
                                    <p:animEffect filter="fade" transition="in">
                                      <p:cBhvr>
                                        <p:cTn dur="1000"/>
                                        <p:tgtEl>
                                          <p:spTgt spid="4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3" st="3"/>
                                            </p:txEl>
                                          </p:spTgt>
                                        </p:tgtEl>
                                        <p:attrNameLst>
                                          <p:attrName>style.visibility</p:attrName>
                                        </p:attrNameLst>
                                      </p:cBhvr>
                                      <p:to>
                                        <p:strVal val="visible"/>
                                      </p:to>
                                    </p:set>
                                    <p:animEffect filter="fade" transition="in">
                                      <p:cBhvr>
                                        <p:cTn dur="1000"/>
                                        <p:tgtEl>
                                          <p:spTgt spid="4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4" st="4"/>
                                            </p:txEl>
                                          </p:spTgt>
                                        </p:tgtEl>
                                        <p:attrNameLst>
                                          <p:attrName>style.visibility</p:attrName>
                                        </p:attrNameLst>
                                      </p:cBhvr>
                                      <p:to>
                                        <p:strVal val="visible"/>
                                      </p:to>
                                    </p:set>
                                    <p:animEffect filter="fade" transition="in">
                                      <p:cBhvr>
                                        <p:cTn dur="1000"/>
                                        <p:tgtEl>
                                          <p:spTgt spid="48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xEl>
                                              <p:pRg end="5" st="5"/>
                                            </p:txEl>
                                          </p:spTgt>
                                        </p:tgtEl>
                                        <p:attrNameLst>
                                          <p:attrName>style.visibility</p:attrName>
                                        </p:attrNameLst>
                                      </p:cBhvr>
                                      <p:to>
                                        <p:strVal val="visible"/>
                                      </p:to>
                                    </p:set>
                                    <p:animEffect filter="fade" transition="in">
                                      <p:cBhvr>
                                        <p:cTn dur="1000"/>
                                        <p:tgtEl>
                                          <p:spTgt spid="48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4"/>
          <p:cNvSpPr txBox="1"/>
          <p:nvPr>
            <p:ph type="title"/>
          </p:nvPr>
        </p:nvSpPr>
        <p:spPr>
          <a:xfrm>
            <a:off x="677333" y="609600"/>
            <a:ext cx="9054495" cy="13208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Trebuchet MS"/>
              <a:buNone/>
            </a:pPr>
            <a:r>
              <a:rPr b="1" lang="fr-FR"/>
              <a:t>SERVICE BUREAU A DISTANCE SOUS WINDOWS SERVER 2012 R2</a:t>
            </a:r>
            <a:br>
              <a:rPr b="1" lang="fr-FR"/>
            </a:br>
            <a:br>
              <a:rPr b="1" lang="fr-FR"/>
            </a:br>
            <a:endParaRPr/>
          </a:p>
        </p:txBody>
      </p:sp>
      <p:sp>
        <p:nvSpPr>
          <p:cNvPr id="494" name="Google Shape;494;p7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b="1" lang="fr-FR"/>
              <a:t>PRESENTATION DU ROLE</a:t>
            </a:r>
            <a:endParaRPr/>
          </a:p>
          <a:p>
            <a:pPr indent="-342900" lvl="0" marL="342900" rtl="0" algn="l">
              <a:spcBef>
                <a:spcPts val="1000"/>
              </a:spcBef>
              <a:spcAft>
                <a:spcPts val="0"/>
              </a:spcAft>
              <a:buSzPts val="1440"/>
              <a:buChar char="►"/>
            </a:pPr>
            <a:r>
              <a:rPr lang="fr-FR"/>
              <a:t>Les services bureau à distance permettent d’accélérer et d’étendre les déploiements de bureaux et applications sur n’importe quel périphérique. Ils améliorent ainsi l’efficacité du travail à distance tout en sécurisant la propriété intellectuelle critique et en simplifiant la conformité réglementaire. Les services bureau à distance autorisent une infrastructure de bureau virtuel (VDI, virtual Desktop Infrastructure), des bureaux basée sur une session, et des applications, ce qui permet aux utilisateurs de travailler n’importe où.</a:t>
            </a:r>
            <a:endParaRPr/>
          </a:p>
          <a:p>
            <a:pPr indent="-251460" lvl="0" marL="342900" rtl="0" algn="l">
              <a:spcBef>
                <a:spcPts val="1000"/>
              </a:spcBef>
              <a:spcAft>
                <a:spcPts val="0"/>
              </a:spcAft>
              <a:buSzPts val="1440"/>
              <a:buNone/>
            </a:pPr>
            <a:r>
              <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xEl>
                                              <p:pRg end="0" st="0"/>
                                            </p:txEl>
                                          </p:spTgt>
                                        </p:tgtEl>
                                        <p:attrNameLst>
                                          <p:attrName>style.visibility</p:attrName>
                                        </p:attrNameLst>
                                      </p:cBhvr>
                                      <p:to>
                                        <p:strVal val="visible"/>
                                      </p:to>
                                    </p:set>
                                    <p:animEffect filter="fade" transition="in">
                                      <p:cBhvr>
                                        <p:cTn dur="1000"/>
                                        <p:tgtEl>
                                          <p:spTgt spid="4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xEl>
                                              <p:pRg end="1" st="1"/>
                                            </p:txEl>
                                          </p:spTgt>
                                        </p:tgtEl>
                                        <p:attrNameLst>
                                          <p:attrName>style.visibility</p:attrName>
                                        </p:attrNameLst>
                                      </p:cBhvr>
                                      <p:to>
                                        <p:strVal val="visible"/>
                                      </p:to>
                                    </p:set>
                                    <p:animEffect filter="fade" transition="in">
                                      <p:cBhvr>
                                        <p:cTn dur="1000"/>
                                        <p:tgtEl>
                                          <p:spTgt spid="4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xEl>
                                              <p:pRg end="2" st="2"/>
                                            </p:txEl>
                                          </p:spTgt>
                                        </p:tgtEl>
                                        <p:attrNameLst>
                                          <p:attrName>style.visibility</p:attrName>
                                        </p:attrNameLst>
                                      </p:cBhvr>
                                      <p:to>
                                        <p:strVal val="visible"/>
                                      </p:to>
                                    </p:set>
                                    <p:animEffect filter="fade" transition="in">
                                      <p:cBhvr>
                                        <p:cTn dur="1000"/>
                                        <p:tgtEl>
                                          <p:spTgt spid="4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xEl>
                                              <p:pRg end="3" st="3"/>
                                            </p:txEl>
                                          </p:spTgt>
                                        </p:tgtEl>
                                        <p:attrNameLst>
                                          <p:attrName>style.visibility</p:attrName>
                                        </p:attrNameLst>
                                      </p:cBhvr>
                                      <p:to>
                                        <p:strVal val="visible"/>
                                      </p:to>
                                    </p:set>
                                    <p:animEffect filter="fade" transition="in">
                                      <p:cBhvr>
                                        <p:cTn dur="1000"/>
                                        <p:tgtEl>
                                          <p:spTgt spid="49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fr-FR"/>
              <a:t>AUTRE</a:t>
            </a:r>
            <a:endParaRPr/>
          </a:p>
        </p:txBody>
      </p:sp>
      <p:sp>
        <p:nvSpPr>
          <p:cNvPr id="500" name="Google Shape;500;p7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fr-FR"/>
              <a:t>WINS</a:t>
            </a:r>
            <a:endParaRPr/>
          </a:p>
          <a:p>
            <a:pPr indent="0" lvl="0" marL="0" rtl="0" algn="l">
              <a:spcBef>
                <a:spcPts val="1000"/>
              </a:spcBef>
              <a:spcAft>
                <a:spcPts val="0"/>
              </a:spcAft>
              <a:buSzPts val="1440"/>
              <a:buNone/>
            </a:pPr>
            <a:r>
              <a:rPr lang="fr-FR"/>
              <a:t>WINS est un service qui transforme les noms d’ordinateurs en adresses IP . De cette manière, le nom d’ordinateur ORDINATEUR84 peut être résolu en une adresse IP , ce qui permet aux ordinateurs d’un réseau Microsoft de se reconnaître et de se transférer des informations. </a:t>
            </a:r>
            <a:endParaRPr/>
          </a:p>
          <a:p>
            <a:pPr indent="-342900" lvl="0" marL="342900" rtl="0" algn="l">
              <a:spcBef>
                <a:spcPts val="1000"/>
              </a:spcBef>
              <a:spcAft>
                <a:spcPts val="0"/>
              </a:spcAft>
              <a:buSzPts val="1440"/>
              <a:buChar char="►"/>
            </a:pPr>
            <a:r>
              <a:rPr lang="fr-FR"/>
              <a:t>LLMNR</a:t>
            </a:r>
            <a:endParaRPr/>
          </a:p>
          <a:p>
            <a:pPr indent="0" lvl="0" marL="0" rtl="0" algn="l">
              <a:spcBef>
                <a:spcPts val="1000"/>
              </a:spcBef>
              <a:spcAft>
                <a:spcPts val="0"/>
              </a:spcAft>
              <a:buSzPts val="1440"/>
              <a:buNone/>
            </a:pPr>
            <a:r>
              <a:rPr lang="fr-FR"/>
              <a:t>LLMNR (Link-Local Multicast Name Resolution, résolution de noms sur un réseau local) assiste les services de résolution de noms point-à-point des périphériques équipés des protocoles IPv4 et/ou IPv6. Si ces derniers se trouvent sur un sous-réseau sans serveur DNS ou WINS, elle leur permet de résoudre les noms de chacun, service que WINS ou DNS ne fournissent pas complètement.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fr-FR"/>
              <a:t>LES SECURITES</a:t>
            </a:r>
            <a:br>
              <a:rPr b="1" lang="fr-FR"/>
            </a:br>
            <a:endParaRPr/>
          </a:p>
        </p:txBody>
      </p:sp>
      <p:sp>
        <p:nvSpPr>
          <p:cNvPr id="506" name="Google Shape;506;p7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fr-FR"/>
              <a:t>Windows Server 2012 R2 permet de structurer une informatique hautement sécurisée en proposant des infrastructures locales ou hybrides.</a:t>
            </a:r>
            <a:br>
              <a:rPr lang="fr-FR"/>
            </a:br>
            <a:r>
              <a:rPr lang="fr-FR"/>
              <a:t>L’utilisateur profite ainsi d’un accès permanent à ses applications et à ses informations avec une disponibilité maximale</a:t>
            </a:r>
            <a:endParaRPr/>
          </a:p>
          <a:p>
            <a:pPr indent="0" lvl="0" marL="0" rtl="0" algn="l">
              <a:spcBef>
                <a:spcPts val="1000"/>
              </a:spcBef>
              <a:spcAft>
                <a:spcPts val="0"/>
              </a:spcAft>
              <a:buSzPts val="1440"/>
              <a:buNone/>
            </a:pPr>
            <a:r>
              <a:rPr lang="fr-FR"/>
              <a:t>Dans un cas pratiques, les paramètres de sécurité permettent de contrôler :</a:t>
            </a:r>
            <a:endParaRPr/>
          </a:p>
          <a:p>
            <a:pPr indent="-342900" lvl="0" marL="342900" rtl="0" algn="l">
              <a:spcBef>
                <a:spcPts val="1000"/>
              </a:spcBef>
              <a:spcAft>
                <a:spcPts val="0"/>
              </a:spcAft>
              <a:buSzPts val="1440"/>
              <a:buChar char="►"/>
            </a:pPr>
            <a:r>
              <a:rPr lang="fr-FR"/>
              <a:t>L’authentification utilisateur sur un réseau ou un ordinateur,</a:t>
            </a:r>
            <a:endParaRPr/>
          </a:p>
          <a:p>
            <a:pPr indent="-342900" lvl="0" marL="342900" rtl="0" algn="l">
              <a:spcBef>
                <a:spcPts val="1000"/>
              </a:spcBef>
              <a:spcAft>
                <a:spcPts val="0"/>
              </a:spcAft>
              <a:buSzPts val="1440"/>
              <a:buChar char="►"/>
            </a:pPr>
            <a:r>
              <a:rPr lang="fr-FR"/>
              <a:t>Les ressources auxquelles l’utilisateur peut accéder,</a:t>
            </a:r>
            <a:endParaRPr/>
          </a:p>
          <a:p>
            <a:pPr indent="-342900" lvl="0" marL="342900" rtl="0" algn="l">
              <a:spcBef>
                <a:spcPts val="1000"/>
              </a:spcBef>
              <a:spcAft>
                <a:spcPts val="0"/>
              </a:spcAft>
              <a:buSzPts val="1440"/>
              <a:buChar char="►"/>
            </a:pPr>
            <a:r>
              <a:rPr lang="fr-FR"/>
              <a:t>Si les actions d’un utilisateur ou d’un groupe doivent être consignées dans le journal des évènements,</a:t>
            </a:r>
            <a:endParaRPr/>
          </a:p>
          <a:p>
            <a:pPr indent="-342900" lvl="0" marL="342900" rtl="0" algn="l">
              <a:spcBef>
                <a:spcPts val="1000"/>
              </a:spcBef>
              <a:spcAft>
                <a:spcPts val="0"/>
              </a:spcAft>
              <a:buSzPts val="1440"/>
              <a:buChar char="►"/>
            </a:pPr>
            <a:r>
              <a:rPr lang="fr-FR"/>
              <a:t>L’appartenance à un groupe.</a:t>
            </a:r>
            <a:endParaRPr/>
          </a:p>
          <a:p>
            <a:pPr indent="-251460" lvl="0" marL="342900" rtl="0" algn="l">
              <a:spcBef>
                <a:spcPts val="1000"/>
              </a:spcBef>
              <a:spcAft>
                <a:spcPts val="0"/>
              </a:spcAft>
              <a:buSzPts val="1440"/>
              <a:buNone/>
            </a:pPr>
            <a:r>
              <a:t/>
            </a:r>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0" st="0"/>
                                            </p:txEl>
                                          </p:spTgt>
                                        </p:tgtEl>
                                        <p:attrNameLst>
                                          <p:attrName>style.visibility</p:attrName>
                                        </p:attrNameLst>
                                      </p:cBhvr>
                                      <p:to>
                                        <p:strVal val="visible"/>
                                      </p:to>
                                    </p:set>
                                    <p:animEffect filter="fade" transition="in">
                                      <p:cBhvr>
                                        <p:cTn dur="1000"/>
                                        <p:tgtEl>
                                          <p:spTgt spid="5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1" st="1"/>
                                            </p:txEl>
                                          </p:spTgt>
                                        </p:tgtEl>
                                        <p:attrNameLst>
                                          <p:attrName>style.visibility</p:attrName>
                                        </p:attrNameLst>
                                      </p:cBhvr>
                                      <p:to>
                                        <p:strVal val="visible"/>
                                      </p:to>
                                    </p:set>
                                    <p:animEffect filter="fade" transition="in">
                                      <p:cBhvr>
                                        <p:cTn dur="1000"/>
                                        <p:tgtEl>
                                          <p:spTgt spid="5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2" st="2"/>
                                            </p:txEl>
                                          </p:spTgt>
                                        </p:tgtEl>
                                        <p:attrNameLst>
                                          <p:attrName>style.visibility</p:attrName>
                                        </p:attrNameLst>
                                      </p:cBhvr>
                                      <p:to>
                                        <p:strVal val="visible"/>
                                      </p:to>
                                    </p:set>
                                    <p:animEffect filter="fade" transition="in">
                                      <p:cBhvr>
                                        <p:cTn dur="1000"/>
                                        <p:tgtEl>
                                          <p:spTgt spid="5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3" st="3"/>
                                            </p:txEl>
                                          </p:spTgt>
                                        </p:tgtEl>
                                        <p:attrNameLst>
                                          <p:attrName>style.visibility</p:attrName>
                                        </p:attrNameLst>
                                      </p:cBhvr>
                                      <p:to>
                                        <p:strVal val="visible"/>
                                      </p:to>
                                    </p:set>
                                    <p:animEffect filter="fade" transition="in">
                                      <p:cBhvr>
                                        <p:cTn dur="1000"/>
                                        <p:tgtEl>
                                          <p:spTgt spid="5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4" st="4"/>
                                            </p:txEl>
                                          </p:spTgt>
                                        </p:tgtEl>
                                        <p:attrNameLst>
                                          <p:attrName>style.visibility</p:attrName>
                                        </p:attrNameLst>
                                      </p:cBhvr>
                                      <p:to>
                                        <p:strVal val="visible"/>
                                      </p:to>
                                    </p:set>
                                    <p:animEffect filter="fade" transition="in">
                                      <p:cBhvr>
                                        <p:cTn dur="1000"/>
                                        <p:tgtEl>
                                          <p:spTgt spid="5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5" st="5"/>
                                            </p:txEl>
                                          </p:spTgt>
                                        </p:tgtEl>
                                        <p:attrNameLst>
                                          <p:attrName>style.visibility</p:attrName>
                                        </p:attrNameLst>
                                      </p:cBhvr>
                                      <p:to>
                                        <p:strVal val="visible"/>
                                      </p:to>
                                    </p:set>
                                    <p:animEffect filter="fade" transition="in">
                                      <p:cBhvr>
                                        <p:cTn dur="1000"/>
                                        <p:tgtEl>
                                          <p:spTgt spid="5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6" st="6"/>
                                            </p:txEl>
                                          </p:spTgt>
                                        </p:tgtEl>
                                        <p:attrNameLst>
                                          <p:attrName>style.visibility</p:attrName>
                                        </p:attrNameLst>
                                      </p:cBhvr>
                                      <p:to>
                                        <p:strVal val="visible"/>
                                      </p:to>
                                    </p:set>
                                    <p:animEffect filter="fade" transition="in">
                                      <p:cBhvr>
                                        <p:cTn dur="1000"/>
                                        <p:tgtEl>
                                          <p:spTgt spid="50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7"/>
          <p:cNvSpPr txBox="1"/>
          <p:nvPr>
            <p:ph type="title"/>
          </p:nvPr>
        </p:nvSpPr>
        <p:spPr>
          <a:xfrm>
            <a:off x="1233926" y="2676939"/>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fr-FR"/>
              <a:t>MERCI POUR VOTRE ATTENTION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te">
  <a:themeElements>
    <a:clrScheme name="Bleu">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